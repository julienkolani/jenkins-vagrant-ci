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RoxboroughCF Bold" charset="1" panose="00000800000000000000"/>
      <p:regular r:id="rId27"/>
    </p:embeddedFont>
    <p:embeddedFont>
      <p:font typeface="More Sugar" charset="1" panose="00000000000000000000"/>
      <p:regular r:id="rId28"/>
    </p:embeddedFont>
    <p:embeddedFont>
      <p:font typeface="Roboto Bold" charset="1" panose="02000000000000000000"/>
      <p:regular r:id="rId29"/>
    </p:embeddedFont>
    <p:embeddedFont>
      <p:font typeface="Open Sans" charset="1" panose="020B0606030504020204"/>
      <p:regular r:id="rId30"/>
    </p:embeddedFont>
    <p:embeddedFont>
      <p:font typeface="Roboto" charset="1" panose="02000000000000000000"/>
      <p:regular r:id="rId34"/>
    </p:embeddedFont>
    <p:embeddedFont>
      <p:font typeface="Roboto Italics" charset="1" panose="02000000000000000000"/>
      <p:regular r:id="rId35"/>
    </p:embeddedFont>
    <p:embeddedFont>
      <p:font typeface="Quicksand Bold" charset="1" panose="00000800000000000000"/>
      <p:regular r:id="rId36"/>
    </p:embeddedFont>
    <p:embeddedFont>
      <p:font typeface="Quicksand Medium" charset="1" panose="00000600000000000000"/>
      <p:regular r:id="rId37"/>
    </p:embeddedFont>
    <p:embeddedFont>
      <p:font typeface="Roboto Bold Italics" charset="1" panose="02000000000000000000"/>
      <p:regular r:id="rId38"/>
    </p:embeddedFont>
    <p:embeddedFont>
      <p:font typeface="Quicksand" charset="1" panose="000005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Faires des recherches sur la méthode agile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7.png" Type="http://schemas.openxmlformats.org/officeDocument/2006/relationships/image"/><Relationship Id="rId5" Target="../embeddings/oleObject1.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3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50.pn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44.png" Type="http://schemas.openxmlformats.org/officeDocument/2006/relationships/image"/><Relationship Id="rId5" Target="../media/image45.jpeg" Type="http://schemas.openxmlformats.org/officeDocument/2006/relationships/image"/><Relationship Id="rId6" Target="../media/image46.jpeg" Type="http://schemas.openxmlformats.org/officeDocument/2006/relationships/image"/><Relationship Id="rId7" Target="../media/image47.jpeg" Type="http://schemas.openxmlformats.org/officeDocument/2006/relationships/image"/><Relationship Id="rId8" Target="../media/image48.jpeg" Type="http://schemas.openxmlformats.org/officeDocument/2006/relationships/image"/><Relationship Id="rId9" Target="../media/image4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https://xn--jenkinsleguidecomplet-ce9lcf.github.io/html/intro%E2%80%91sect%E2%80%91history.html" TargetMode="External" Type="http://schemas.openxmlformats.org/officeDocument/2006/relationships/hyperlink"/><Relationship Id="rId5" Target="https://www.jenkins.io/doc/book/pipeline/pipeline-best-practices/" TargetMode="External" Type="http://schemas.openxmlformats.org/officeDocument/2006/relationships/hyperlink"/><Relationship Id="rId6" Target="https://www.simplilearn.com/tutorials/jenkins-tutorial/what-is-jenkins" TargetMode="External" Type="http://schemas.openxmlformats.org/officeDocument/2006/relationships/hyperlink"/><Relationship Id="rId7" Target="https://www.letecode.com/comment-devenir-un-developpeur-web-full-stack-en-2022" TargetMode="External" Type="http://schemas.openxmlformats.org/officeDocument/2006/relationships/hyperlink"/><Relationship Id="rId8" Target="https://www.letecode.com/storage/articles/April2022/continuous-integration-continuous-deploy-1.jpeg"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7125392" y="8770567"/>
            <a:ext cx="359101" cy="359101"/>
            <a:chOff x="0" y="0"/>
            <a:chExt cx="1708150" cy="1708150"/>
          </a:xfrm>
        </p:grpSpPr>
        <p:sp>
          <p:nvSpPr>
            <p:cNvPr name="Freeform 3" id="3"/>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12E44"/>
            </a:solidFill>
          </p:spPr>
        </p:sp>
      </p:grpSp>
      <p:grpSp>
        <p:nvGrpSpPr>
          <p:cNvPr name="Group 4" id="4"/>
          <p:cNvGrpSpPr>
            <a:grpSpLocks noChangeAspect="true"/>
          </p:cNvGrpSpPr>
          <p:nvPr/>
        </p:nvGrpSpPr>
        <p:grpSpPr>
          <a:xfrm rot="0">
            <a:off x="16516701" y="8770567"/>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12E44"/>
            </a:solidFill>
          </p:spPr>
        </p:sp>
      </p:grpSp>
      <p:grpSp>
        <p:nvGrpSpPr>
          <p:cNvPr name="Group 6" id="6"/>
          <p:cNvGrpSpPr/>
          <p:nvPr/>
        </p:nvGrpSpPr>
        <p:grpSpPr>
          <a:xfrm rot="0">
            <a:off x="15911928" y="8772526"/>
            <a:ext cx="355183" cy="355183"/>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8CBCCC"/>
            </a:solidFill>
          </p:spPr>
        </p:sp>
      </p:grpSp>
      <p:grpSp>
        <p:nvGrpSpPr>
          <p:cNvPr name="Group 8" id="8"/>
          <p:cNvGrpSpPr/>
          <p:nvPr/>
        </p:nvGrpSpPr>
        <p:grpSpPr>
          <a:xfrm rot="0">
            <a:off x="955907" y="7918541"/>
            <a:ext cx="962145" cy="962145"/>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AEEFD"/>
            </a:solidFill>
          </p:spPr>
        </p:sp>
      </p:grpSp>
      <p:sp>
        <p:nvSpPr>
          <p:cNvPr name="Freeform 10" id="10"/>
          <p:cNvSpPr/>
          <p:nvPr/>
        </p:nvSpPr>
        <p:spPr>
          <a:xfrm flipH="false" flipV="false" rot="0">
            <a:off x="15020220" y="8696002"/>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11786" y="2979542"/>
            <a:ext cx="6495935" cy="4327916"/>
          </a:xfrm>
          <a:custGeom>
            <a:avLst/>
            <a:gdLst/>
            <a:ahLst/>
            <a:cxnLst/>
            <a:rect r="r" b="b" t="t" l="l"/>
            <a:pathLst>
              <a:path h="4327916" w="6495935">
                <a:moveTo>
                  <a:pt x="0" y="0"/>
                </a:moveTo>
                <a:lnTo>
                  <a:pt x="6495934" y="0"/>
                </a:lnTo>
                <a:lnTo>
                  <a:pt x="6495934" y="4327916"/>
                </a:lnTo>
                <a:lnTo>
                  <a:pt x="0" y="4327916"/>
                </a:lnTo>
                <a:lnTo>
                  <a:pt x="0" y="0"/>
                </a:lnTo>
                <a:close/>
              </a:path>
            </a:pathLst>
          </a:custGeom>
          <a:blipFill>
            <a:blip r:embed="rId4"/>
            <a:stretch>
              <a:fillRect l="0" t="0" r="0" b="0"/>
            </a:stretch>
          </a:blipFill>
        </p:spPr>
      </p:sp>
      <p:sp>
        <p:nvSpPr>
          <p:cNvPr name="TextBox 12" id="12"/>
          <p:cNvSpPr txBox="true"/>
          <p:nvPr/>
        </p:nvSpPr>
        <p:spPr>
          <a:xfrm rot="0">
            <a:off x="8064186" y="4428837"/>
            <a:ext cx="8632066" cy="1438850"/>
          </a:xfrm>
          <a:prstGeom prst="rect">
            <a:avLst/>
          </a:prstGeom>
        </p:spPr>
        <p:txBody>
          <a:bodyPr anchor="t" rtlCol="false" tIns="0" lIns="0" bIns="0" rIns="0">
            <a:spAutoFit/>
          </a:bodyPr>
          <a:lstStyle/>
          <a:p>
            <a:pPr algn="l" marL="0" indent="0" lvl="0">
              <a:lnSpc>
                <a:spcPts val="5697"/>
              </a:lnSpc>
              <a:spcBef>
                <a:spcPct val="0"/>
              </a:spcBef>
            </a:pPr>
            <a:r>
              <a:rPr lang="en-US" b="true" sz="4828" strike="noStrike" u="none">
                <a:solidFill>
                  <a:srgbClr val="000000"/>
                </a:solidFill>
                <a:latin typeface="RoxboroughCF Bold"/>
                <a:ea typeface="RoxboroughCF Bold"/>
                <a:cs typeface="RoxboroughCF Bold"/>
                <a:sym typeface="RoxboroughCF Bold"/>
              </a:rPr>
              <a:t>Mise en place de l'intégration continue avec Jenkins</a:t>
            </a:r>
          </a:p>
        </p:txBody>
      </p:sp>
      <p:sp>
        <p:nvSpPr>
          <p:cNvPr name="TextBox 13" id="13"/>
          <p:cNvSpPr txBox="true"/>
          <p:nvPr/>
        </p:nvSpPr>
        <p:spPr>
          <a:xfrm rot="0">
            <a:off x="1436979" y="8290353"/>
            <a:ext cx="5248675" cy="659765"/>
          </a:xfrm>
          <a:prstGeom prst="rect">
            <a:avLst/>
          </a:prstGeom>
        </p:spPr>
        <p:txBody>
          <a:bodyPr anchor="t" rtlCol="false" tIns="0" lIns="0" bIns="0" rIns="0">
            <a:spAutoFit/>
          </a:bodyPr>
          <a:lstStyle/>
          <a:p>
            <a:pPr algn="l">
              <a:lnSpc>
                <a:spcPts val="2680"/>
              </a:lnSpc>
            </a:pPr>
            <a:r>
              <a:rPr lang="en-US" sz="2000">
                <a:solidFill>
                  <a:srgbClr val="112E44"/>
                </a:solidFill>
                <a:latin typeface="More Sugar"/>
                <a:ea typeface="More Sugar"/>
                <a:cs typeface="More Sugar"/>
                <a:sym typeface="More Sugar"/>
              </a:rPr>
              <a:t>Auteurs :        KOLANI Julien Yendoupabe</a:t>
            </a:r>
          </a:p>
          <a:p>
            <a:pPr algn="l">
              <a:lnSpc>
                <a:spcPts val="2680"/>
              </a:lnSpc>
            </a:pPr>
            <a:r>
              <a:rPr lang="en-US" sz="2000">
                <a:solidFill>
                  <a:srgbClr val="112E44"/>
                </a:solidFill>
                <a:latin typeface="More Sugar"/>
                <a:ea typeface="More Sugar"/>
                <a:cs typeface="More Sugar"/>
                <a:sym typeface="More Sugar"/>
              </a:rPr>
              <a:t>                       TELOU Abire Jennefer</a:t>
            </a:r>
          </a:p>
        </p:txBody>
      </p:sp>
      <p:sp>
        <p:nvSpPr>
          <p:cNvPr name="Freeform 14" id="14"/>
          <p:cNvSpPr/>
          <p:nvPr/>
        </p:nvSpPr>
        <p:spPr>
          <a:xfrm flipH="false" flipV="false" rot="0">
            <a:off x="14200443" y="546645"/>
            <a:ext cx="3097831" cy="1327909"/>
          </a:xfrm>
          <a:custGeom>
            <a:avLst/>
            <a:gdLst/>
            <a:ahLst/>
            <a:cxnLst/>
            <a:rect r="r" b="b" t="t" l="l"/>
            <a:pathLst>
              <a:path h="1327909" w="3097831">
                <a:moveTo>
                  <a:pt x="0" y="0"/>
                </a:moveTo>
                <a:lnTo>
                  <a:pt x="3097831" y="0"/>
                </a:lnTo>
                <a:lnTo>
                  <a:pt x="3097831" y="1327909"/>
                </a:lnTo>
                <a:lnTo>
                  <a:pt x="0" y="1327909"/>
                </a:lnTo>
                <a:lnTo>
                  <a:pt x="0" y="0"/>
                </a:lnTo>
                <a:close/>
              </a:path>
            </a:pathLst>
          </a:custGeom>
          <a:blipFill>
            <a:blip r:embed="rId5"/>
            <a:stretch>
              <a:fillRect l="0" t="0" r="0" b="0"/>
            </a:stretch>
          </a:blipFill>
        </p:spPr>
      </p:sp>
      <p:sp>
        <p:nvSpPr>
          <p:cNvPr name="Freeform 15" id="15"/>
          <p:cNvSpPr/>
          <p:nvPr/>
        </p:nvSpPr>
        <p:spPr>
          <a:xfrm flipH="false" flipV="false" rot="0">
            <a:off x="989726" y="676514"/>
            <a:ext cx="5036029" cy="1120039"/>
          </a:xfrm>
          <a:custGeom>
            <a:avLst/>
            <a:gdLst/>
            <a:ahLst/>
            <a:cxnLst/>
            <a:rect r="r" b="b" t="t" l="l"/>
            <a:pathLst>
              <a:path h="1120039" w="5036029">
                <a:moveTo>
                  <a:pt x="0" y="0"/>
                </a:moveTo>
                <a:lnTo>
                  <a:pt x="5036029" y="0"/>
                </a:lnTo>
                <a:lnTo>
                  <a:pt x="5036029" y="1120039"/>
                </a:lnTo>
                <a:lnTo>
                  <a:pt x="0" y="1120039"/>
                </a:lnTo>
                <a:lnTo>
                  <a:pt x="0" y="0"/>
                </a:lnTo>
                <a:close/>
              </a:path>
            </a:pathLst>
          </a:custGeom>
          <a:blipFill>
            <a:blip r:embed="rId6"/>
            <a:stretch>
              <a:fillRect l="0" t="0" r="0" b="0"/>
            </a:stretch>
          </a:blipFill>
        </p:spPr>
      </p:sp>
      <p:sp>
        <p:nvSpPr>
          <p:cNvPr name="TextBox 16" id="16"/>
          <p:cNvSpPr txBox="true"/>
          <p:nvPr/>
        </p:nvSpPr>
        <p:spPr>
          <a:xfrm rot="0">
            <a:off x="1436979" y="9301509"/>
            <a:ext cx="5464974" cy="326390"/>
          </a:xfrm>
          <a:prstGeom prst="rect">
            <a:avLst/>
          </a:prstGeom>
        </p:spPr>
        <p:txBody>
          <a:bodyPr anchor="t" rtlCol="false" tIns="0" lIns="0" bIns="0" rIns="0">
            <a:spAutoFit/>
          </a:bodyPr>
          <a:lstStyle/>
          <a:p>
            <a:pPr algn="l" marL="0" indent="0" lvl="0">
              <a:lnSpc>
                <a:spcPts val="2680"/>
              </a:lnSpc>
              <a:spcBef>
                <a:spcPct val="0"/>
              </a:spcBef>
            </a:pPr>
            <a:r>
              <a:rPr lang="en-US" sz="2000" strike="noStrike" u="none">
                <a:solidFill>
                  <a:srgbClr val="112E44"/>
                </a:solidFill>
                <a:latin typeface="More Sugar"/>
                <a:ea typeface="More Sugar"/>
                <a:cs typeface="More Sugar"/>
                <a:sym typeface="More Sugar"/>
              </a:rPr>
              <a:t>Superviseur : Amir HAJJAM EL HASSANI</a:t>
            </a:r>
          </a:p>
        </p:txBody>
      </p:sp>
      <p:grpSp>
        <p:nvGrpSpPr>
          <p:cNvPr name="Group 17" id="17"/>
          <p:cNvGrpSpPr/>
          <p:nvPr/>
        </p:nvGrpSpPr>
        <p:grpSpPr>
          <a:xfrm rot="0">
            <a:off x="803507" y="7766141"/>
            <a:ext cx="633473" cy="633473"/>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65543"/>
            </a:solid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8700" y="838886"/>
            <a:ext cx="9791931" cy="1016060"/>
            <a:chOff x="0" y="0"/>
            <a:chExt cx="13999109" cy="1452617"/>
          </a:xfrm>
        </p:grpSpPr>
        <p:sp>
          <p:nvSpPr>
            <p:cNvPr name="Freeform 3" id="3"/>
            <p:cNvSpPr/>
            <p:nvPr/>
          </p:nvSpPr>
          <p:spPr>
            <a:xfrm flipH="false" flipV="false" rot="0">
              <a:off x="57150" y="58420"/>
              <a:ext cx="13929260" cy="1381497"/>
            </a:xfrm>
            <a:custGeom>
              <a:avLst/>
              <a:gdLst/>
              <a:ahLst/>
              <a:cxnLst/>
              <a:rect r="r" b="b" t="t" l="l"/>
              <a:pathLst>
                <a:path h="1381497" w="13929260">
                  <a:moveTo>
                    <a:pt x="13844169" y="1351017"/>
                  </a:moveTo>
                  <a:lnTo>
                    <a:pt x="0" y="1351017"/>
                  </a:lnTo>
                  <a:cubicBezTo>
                    <a:pt x="5080" y="1368797"/>
                    <a:pt x="21590" y="1381497"/>
                    <a:pt x="40640" y="1381497"/>
                  </a:cubicBezTo>
                  <a:lnTo>
                    <a:pt x="13886080" y="1381497"/>
                  </a:lnTo>
                  <a:cubicBezTo>
                    <a:pt x="13910210" y="1381497"/>
                    <a:pt x="13929260" y="1362447"/>
                    <a:pt x="13929260" y="1338317"/>
                  </a:cubicBezTo>
                  <a:lnTo>
                    <a:pt x="13929260" y="40640"/>
                  </a:lnTo>
                  <a:cubicBezTo>
                    <a:pt x="13929260" y="21590"/>
                    <a:pt x="13916560" y="6350"/>
                    <a:pt x="13900049" y="0"/>
                  </a:cubicBezTo>
                  <a:lnTo>
                    <a:pt x="13900049" y="1295137"/>
                  </a:lnTo>
                  <a:cubicBezTo>
                    <a:pt x="13900049" y="1325617"/>
                    <a:pt x="13874649" y="1351017"/>
                    <a:pt x="13844169" y="1351017"/>
                  </a:cubicBezTo>
                  <a:close/>
                </a:path>
              </a:pathLst>
            </a:custGeom>
            <a:solidFill>
              <a:srgbClr val="000000"/>
            </a:solidFill>
          </p:spPr>
        </p:sp>
        <p:sp>
          <p:nvSpPr>
            <p:cNvPr name="Freeform 4" id="4"/>
            <p:cNvSpPr/>
            <p:nvPr/>
          </p:nvSpPr>
          <p:spPr>
            <a:xfrm flipH="false" flipV="false" rot="0">
              <a:off x="12700" y="12700"/>
              <a:ext cx="13931799" cy="1384037"/>
            </a:xfrm>
            <a:custGeom>
              <a:avLst/>
              <a:gdLst/>
              <a:ahLst/>
              <a:cxnLst/>
              <a:rect r="r" b="b" t="t" l="l"/>
              <a:pathLst>
                <a:path h="1384037" w="13931799">
                  <a:moveTo>
                    <a:pt x="43180" y="1384037"/>
                  </a:moveTo>
                  <a:lnTo>
                    <a:pt x="13888619" y="1384037"/>
                  </a:lnTo>
                  <a:cubicBezTo>
                    <a:pt x="13912749" y="1384037"/>
                    <a:pt x="13931799" y="1364987"/>
                    <a:pt x="13931799" y="1340857"/>
                  </a:cubicBezTo>
                  <a:lnTo>
                    <a:pt x="13931799" y="43180"/>
                  </a:lnTo>
                  <a:cubicBezTo>
                    <a:pt x="13931799" y="19050"/>
                    <a:pt x="13912749" y="0"/>
                    <a:pt x="13888619" y="0"/>
                  </a:cubicBezTo>
                  <a:lnTo>
                    <a:pt x="43180" y="0"/>
                  </a:lnTo>
                  <a:cubicBezTo>
                    <a:pt x="19050" y="0"/>
                    <a:pt x="0" y="19050"/>
                    <a:pt x="0" y="43180"/>
                  </a:cubicBezTo>
                  <a:lnTo>
                    <a:pt x="0" y="1340857"/>
                  </a:lnTo>
                  <a:cubicBezTo>
                    <a:pt x="0" y="1364987"/>
                    <a:pt x="19050" y="1384037"/>
                    <a:pt x="43180" y="1384037"/>
                  </a:cubicBezTo>
                  <a:close/>
                </a:path>
              </a:pathLst>
            </a:custGeom>
            <a:solidFill>
              <a:srgbClr val="F8F8F8"/>
            </a:solidFill>
          </p:spPr>
        </p:sp>
        <p:sp>
          <p:nvSpPr>
            <p:cNvPr name="Freeform 5" id="5"/>
            <p:cNvSpPr/>
            <p:nvPr/>
          </p:nvSpPr>
          <p:spPr>
            <a:xfrm flipH="false" flipV="false" rot="0">
              <a:off x="0" y="0"/>
              <a:ext cx="13999110" cy="1452617"/>
            </a:xfrm>
            <a:custGeom>
              <a:avLst/>
              <a:gdLst/>
              <a:ahLst/>
              <a:cxnLst/>
              <a:rect r="r" b="b" t="t" l="l"/>
              <a:pathLst>
                <a:path h="1452617" w="13999110">
                  <a:moveTo>
                    <a:pt x="13955930" y="44450"/>
                  </a:moveTo>
                  <a:cubicBezTo>
                    <a:pt x="13950849" y="19050"/>
                    <a:pt x="13927989" y="0"/>
                    <a:pt x="13901319" y="0"/>
                  </a:cubicBezTo>
                  <a:lnTo>
                    <a:pt x="55880" y="0"/>
                  </a:lnTo>
                  <a:cubicBezTo>
                    <a:pt x="25400" y="0"/>
                    <a:pt x="0" y="25400"/>
                    <a:pt x="0" y="55880"/>
                  </a:cubicBezTo>
                  <a:lnTo>
                    <a:pt x="0" y="1353557"/>
                  </a:lnTo>
                  <a:cubicBezTo>
                    <a:pt x="0" y="1380227"/>
                    <a:pt x="17780" y="1401817"/>
                    <a:pt x="43180" y="1408167"/>
                  </a:cubicBezTo>
                  <a:cubicBezTo>
                    <a:pt x="48260" y="1433567"/>
                    <a:pt x="71120" y="1452617"/>
                    <a:pt x="97790" y="1452617"/>
                  </a:cubicBezTo>
                  <a:lnTo>
                    <a:pt x="13943230" y="1452617"/>
                  </a:lnTo>
                  <a:cubicBezTo>
                    <a:pt x="13973710" y="1452617"/>
                    <a:pt x="13999110" y="1427217"/>
                    <a:pt x="13999110" y="1396737"/>
                  </a:cubicBezTo>
                  <a:lnTo>
                    <a:pt x="13999110" y="99060"/>
                  </a:lnTo>
                  <a:cubicBezTo>
                    <a:pt x="13999110" y="72390"/>
                    <a:pt x="13981330" y="50800"/>
                    <a:pt x="13955930" y="44450"/>
                  </a:cubicBezTo>
                  <a:close/>
                  <a:moveTo>
                    <a:pt x="12700" y="1353557"/>
                  </a:moveTo>
                  <a:lnTo>
                    <a:pt x="12700" y="55880"/>
                  </a:lnTo>
                  <a:cubicBezTo>
                    <a:pt x="12700" y="31750"/>
                    <a:pt x="31750" y="12700"/>
                    <a:pt x="55880" y="12700"/>
                  </a:cubicBezTo>
                  <a:lnTo>
                    <a:pt x="13901319" y="12700"/>
                  </a:lnTo>
                  <a:cubicBezTo>
                    <a:pt x="13925449" y="12700"/>
                    <a:pt x="13944499" y="31750"/>
                    <a:pt x="13944499" y="55880"/>
                  </a:cubicBezTo>
                  <a:lnTo>
                    <a:pt x="13944499" y="1353557"/>
                  </a:lnTo>
                  <a:cubicBezTo>
                    <a:pt x="13944499" y="1377687"/>
                    <a:pt x="13925449" y="1396737"/>
                    <a:pt x="13901319" y="1396737"/>
                  </a:cubicBezTo>
                  <a:lnTo>
                    <a:pt x="55880" y="1396737"/>
                  </a:lnTo>
                  <a:cubicBezTo>
                    <a:pt x="31750" y="1396737"/>
                    <a:pt x="12700" y="1377687"/>
                    <a:pt x="12700" y="1353557"/>
                  </a:cubicBezTo>
                  <a:close/>
                  <a:moveTo>
                    <a:pt x="13986410" y="1396737"/>
                  </a:moveTo>
                  <a:cubicBezTo>
                    <a:pt x="13986410" y="1420867"/>
                    <a:pt x="13967360" y="1439917"/>
                    <a:pt x="13943230" y="1439917"/>
                  </a:cubicBezTo>
                  <a:lnTo>
                    <a:pt x="97790" y="1439917"/>
                  </a:lnTo>
                  <a:cubicBezTo>
                    <a:pt x="78740" y="1439917"/>
                    <a:pt x="62230" y="1427217"/>
                    <a:pt x="57150" y="1409437"/>
                  </a:cubicBezTo>
                  <a:lnTo>
                    <a:pt x="13901319" y="1409437"/>
                  </a:lnTo>
                  <a:cubicBezTo>
                    <a:pt x="13931799" y="1409437"/>
                    <a:pt x="13957199" y="1384037"/>
                    <a:pt x="13957199" y="1353557"/>
                  </a:cubicBezTo>
                  <a:lnTo>
                    <a:pt x="13957199" y="58420"/>
                  </a:lnTo>
                  <a:cubicBezTo>
                    <a:pt x="13973710" y="64770"/>
                    <a:pt x="13986410" y="80010"/>
                    <a:pt x="13986410" y="99060"/>
                  </a:cubicBezTo>
                  <a:lnTo>
                    <a:pt x="13986410" y="1396737"/>
                  </a:lnTo>
                  <a:close/>
                </a:path>
              </a:pathLst>
            </a:custGeom>
            <a:solidFill>
              <a:srgbClr val="000000"/>
            </a:solidFill>
          </p:spPr>
        </p:sp>
      </p:grpSp>
      <p:sp>
        <p:nvSpPr>
          <p:cNvPr name="Freeform 6" id="6"/>
          <p:cNvSpPr/>
          <p:nvPr/>
        </p:nvSpPr>
        <p:spPr>
          <a:xfrm flipH="false" flipV="false" rot="0">
            <a:off x="1294902" y="1099314"/>
            <a:ext cx="495203" cy="495203"/>
          </a:xfrm>
          <a:custGeom>
            <a:avLst/>
            <a:gdLst/>
            <a:ahLst/>
            <a:cxnLst/>
            <a:rect r="r" b="b" t="t" l="l"/>
            <a:pathLst>
              <a:path h="495203" w="495203">
                <a:moveTo>
                  <a:pt x="0" y="0"/>
                </a:moveTo>
                <a:lnTo>
                  <a:pt x="495203" y="0"/>
                </a:lnTo>
                <a:lnTo>
                  <a:pt x="495203" y="495203"/>
                </a:lnTo>
                <a:lnTo>
                  <a:pt x="0" y="4952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049775" y="891561"/>
            <a:ext cx="8329558" cy="722518"/>
          </a:xfrm>
          <a:prstGeom prst="rect">
            <a:avLst/>
          </a:prstGeom>
        </p:spPr>
        <p:txBody>
          <a:bodyPr anchor="t" rtlCol="false" tIns="0" lIns="0" bIns="0" rIns="0">
            <a:spAutoFit/>
          </a:bodyPr>
          <a:lstStyle/>
          <a:p>
            <a:pPr algn="l" marL="0" indent="0" lvl="0">
              <a:lnSpc>
                <a:spcPts val="5697"/>
              </a:lnSpc>
            </a:pPr>
            <a:r>
              <a:rPr lang="en-US" b="true" sz="4828">
                <a:solidFill>
                  <a:srgbClr val="000000"/>
                </a:solidFill>
                <a:latin typeface="RoxboroughCF Bold"/>
                <a:ea typeface="RoxboroughCF Bold"/>
                <a:cs typeface="RoxboroughCF Bold"/>
                <a:sym typeface="RoxboroughCF Bold"/>
              </a:rPr>
              <a:t>Plan</a:t>
            </a:r>
            <a:r>
              <a:rPr lang="en-US" b="true" sz="4828">
                <a:solidFill>
                  <a:srgbClr val="000000"/>
                </a:solidFill>
                <a:latin typeface="RoxboroughCF Bold"/>
                <a:ea typeface="RoxboroughCF Bold"/>
                <a:cs typeface="RoxboroughCF Bold"/>
                <a:sym typeface="RoxboroughCF Bold"/>
              </a:rPr>
              <a:t> de la présentation</a:t>
            </a:r>
          </a:p>
        </p:txBody>
      </p:sp>
      <p:grpSp>
        <p:nvGrpSpPr>
          <p:cNvPr name="Group 8" id="8"/>
          <p:cNvGrpSpPr/>
          <p:nvPr/>
        </p:nvGrpSpPr>
        <p:grpSpPr>
          <a:xfrm rot="0">
            <a:off x="1117322" y="2693632"/>
            <a:ext cx="16136830" cy="623983"/>
            <a:chOff x="0" y="0"/>
            <a:chExt cx="21515774" cy="831978"/>
          </a:xfrm>
        </p:grpSpPr>
        <p:grpSp>
          <p:nvGrpSpPr>
            <p:cNvPr name="Group 9" id="9"/>
            <p:cNvGrpSpPr/>
            <p:nvPr/>
          </p:nvGrpSpPr>
          <p:grpSpPr>
            <a:xfrm rot="0">
              <a:off x="0" y="0"/>
              <a:ext cx="899044" cy="830919"/>
              <a:chOff x="0" y="0"/>
              <a:chExt cx="6870620" cy="6350000"/>
            </a:xfrm>
          </p:grpSpPr>
          <p:sp>
            <p:nvSpPr>
              <p:cNvPr name="Freeform 10" id="10"/>
              <p:cNvSpPr/>
              <p:nvPr/>
            </p:nvSpPr>
            <p:spPr>
              <a:xfrm flipH="false" flipV="false" rot="0">
                <a:off x="0" y="0"/>
                <a:ext cx="6870619" cy="6350000"/>
              </a:xfrm>
              <a:custGeom>
                <a:avLst/>
                <a:gdLst/>
                <a:ahLst/>
                <a:cxnLst/>
                <a:rect r="r" b="b" t="t" l="l"/>
                <a:pathLst>
                  <a:path h="6350000" w="6870619">
                    <a:moveTo>
                      <a:pt x="3435310" y="0"/>
                    </a:moveTo>
                    <a:cubicBezTo>
                      <a:pt x="1538041" y="0"/>
                      <a:pt x="0" y="1421496"/>
                      <a:pt x="0" y="3175000"/>
                    </a:cubicBezTo>
                    <a:cubicBezTo>
                      <a:pt x="0" y="4928504"/>
                      <a:pt x="1538041" y="6350000"/>
                      <a:pt x="3435310" y="6350000"/>
                    </a:cubicBezTo>
                    <a:cubicBezTo>
                      <a:pt x="5332579" y="6350000"/>
                      <a:pt x="6870619" y="4928504"/>
                      <a:pt x="6870619" y="3175000"/>
                    </a:cubicBezTo>
                    <a:cubicBezTo>
                      <a:pt x="6870619" y="1421496"/>
                      <a:pt x="5332579" y="0"/>
                      <a:pt x="3435310" y="0"/>
                    </a:cubicBezTo>
                    <a:close/>
                  </a:path>
                </a:pathLst>
              </a:custGeom>
              <a:solidFill>
                <a:srgbClr val="000000"/>
              </a:solidFill>
            </p:spPr>
          </p:sp>
        </p:grpSp>
        <p:sp>
          <p:nvSpPr>
            <p:cNvPr name="TextBox 11" id="11"/>
            <p:cNvSpPr txBox="true"/>
            <p:nvPr/>
          </p:nvSpPr>
          <p:spPr>
            <a:xfrm rot="0">
              <a:off x="165593" y="17958"/>
              <a:ext cx="567857" cy="730446"/>
            </a:xfrm>
            <a:prstGeom prst="rect">
              <a:avLst/>
            </a:prstGeom>
          </p:spPr>
          <p:txBody>
            <a:bodyPr anchor="t" rtlCol="false" tIns="0" lIns="0" bIns="0" rIns="0">
              <a:spAutoFit/>
            </a:bodyPr>
            <a:lstStyle/>
            <a:p>
              <a:pPr algn="ctr">
                <a:lnSpc>
                  <a:spcPts val="4583"/>
                </a:lnSpc>
              </a:pPr>
              <a:r>
                <a:rPr lang="en-US" b="true" sz="3273">
                  <a:solidFill>
                    <a:srgbClr val="FFFFFF"/>
                  </a:solidFill>
                  <a:latin typeface="RoxboroughCF Bold"/>
                  <a:ea typeface="RoxboroughCF Bold"/>
                  <a:cs typeface="RoxboroughCF Bold"/>
                  <a:sym typeface="RoxboroughCF Bold"/>
                </a:rPr>
                <a:t>1</a:t>
              </a:r>
            </a:p>
          </p:txBody>
        </p:sp>
        <p:sp>
          <p:nvSpPr>
            <p:cNvPr name="TextBox 12" id="12"/>
            <p:cNvSpPr txBox="true"/>
            <p:nvPr/>
          </p:nvSpPr>
          <p:spPr>
            <a:xfrm rot="0">
              <a:off x="1161821" y="222888"/>
              <a:ext cx="5247970" cy="377737"/>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Introduction à l’intégration continue</a:t>
              </a:r>
            </a:p>
          </p:txBody>
        </p:sp>
        <p:grpSp>
          <p:nvGrpSpPr>
            <p:cNvPr name="Group 13" id="13"/>
            <p:cNvGrpSpPr/>
            <p:nvPr/>
          </p:nvGrpSpPr>
          <p:grpSpPr>
            <a:xfrm rot="0">
              <a:off x="7942476" y="0"/>
              <a:ext cx="899044" cy="830919"/>
              <a:chOff x="0" y="0"/>
              <a:chExt cx="6870620" cy="6350000"/>
            </a:xfrm>
          </p:grpSpPr>
          <p:sp>
            <p:nvSpPr>
              <p:cNvPr name="Freeform 14" id="14"/>
              <p:cNvSpPr/>
              <p:nvPr/>
            </p:nvSpPr>
            <p:spPr>
              <a:xfrm flipH="false" flipV="false" rot="0">
                <a:off x="0" y="0"/>
                <a:ext cx="6870619" cy="6350000"/>
              </a:xfrm>
              <a:custGeom>
                <a:avLst/>
                <a:gdLst/>
                <a:ahLst/>
                <a:cxnLst/>
                <a:rect r="r" b="b" t="t" l="l"/>
                <a:pathLst>
                  <a:path h="6350000" w="6870619">
                    <a:moveTo>
                      <a:pt x="3435310" y="0"/>
                    </a:moveTo>
                    <a:cubicBezTo>
                      <a:pt x="1538041" y="0"/>
                      <a:pt x="0" y="1421496"/>
                      <a:pt x="0" y="3175000"/>
                    </a:cubicBezTo>
                    <a:cubicBezTo>
                      <a:pt x="0" y="4928504"/>
                      <a:pt x="1538041" y="6350000"/>
                      <a:pt x="3435310" y="6350000"/>
                    </a:cubicBezTo>
                    <a:cubicBezTo>
                      <a:pt x="5332579" y="6350000"/>
                      <a:pt x="6870619" y="4928504"/>
                      <a:pt x="6870619" y="3175000"/>
                    </a:cubicBezTo>
                    <a:cubicBezTo>
                      <a:pt x="6870619" y="1421496"/>
                      <a:pt x="5332579" y="0"/>
                      <a:pt x="3435310" y="0"/>
                    </a:cubicBezTo>
                    <a:close/>
                  </a:path>
                </a:pathLst>
              </a:custGeom>
              <a:solidFill>
                <a:srgbClr val="000000"/>
              </a:solidFill>
            </p:spPr>
          </p:sp>
        </p:grpSp>
        <p:sp>
          <p:nvSpPr>
            <p:cNvPr name="TextBox 15" id="15"/>
            <p:cNvSpPr txBox="true"/>
            <p:nvPr/>
          </p:nvSpPr>
          <p:spPr>
            <a:xfrm rot="0">
              <a:off x="8108069" y="17958"/>
              <a:ext cx="567857" cy="730446"/>
            </a:xfrm>
            <a:prstGeom prst="rect">
              <a:avLst/>
            </a:prstGeom>
          </p:spPr>
          <p:txBody>
            <a:bodyPr anchor="t" rtlCol="false" tIns="0" lIns="0" bIns="0" rIns="0">
              <a:spAutoFit/>
            </a:bodyPr>
            <a:lstStyle/>
            <a:p>
              <a:pPr algn="ctr">
                <a:lnSpc>
                  <a:spcPts val="4583"/>
                </a:lnSpc>
              </a:pPr>
              <a:r>
                <a:rPr lang="en-US" b="true" sz="3273">
                  <a:solidFill>
                    <a:srgbClr val="FFFFFF"/>
                  </a:solidFill>
                  <a:latin typeface="RoxboroughCF Bold"/>
                  <a:ea typeface="RoxboroughCF Bold"/>
                  <a:cs typeface="RoxboroughCF Bold"/>
                  <a:sym typeface="RoxboroughCF Bold"/>
                </a:rPr>
                <a:t>2</a:t>
              </a:r>
            </a:p>
          </p:txBody>
        </p:sp>
        <p:sp>
          <p:nvSpPr>
            <p:cNvPr name="TextBox 16" id="16"/>
            <p:cNvSpPr txBox="true"/>
            <p:nvPr/>
          </p:nvSpPr>
          <p:spPr>
            <a:xfrm rot="0">
              <a:off x="9159019" y="32913"/>
              <a:ext cx="5247970" cy="745949"/>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Principes fondamentaux de l’intégration continue (CI)</a:t>
              </a:r>
            </a:p>
          </p:txBody>
        </p:sp>
        <p:grpSp>
          <p:nvGrpSpPr>
            <p:cNvPr name="Group 17" id="17"/>
            <p:cNvGrpSpPr/>
            <p:nvPr/>
          </p:nvGrpSpPr>
          <p:grpSpPr>
            <a:xfrm rot="0">
              <a:off x="15536706" y="1059"/>
              <a:ext cx="830919" cy="830919"/>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19" id="19"/>
            <p:cNvSpPr txBox="true"/>
            <p:nvPr/>
          </p:nvSpPr>
          <p:spPr>
            <a:xfrm rot="0">
              <a:off x="15689751" y="19017"/>
              <a:ext cx="524828" cy="730584"/>
            </a:xfrm>
            <a:prstGeom prst="rect">
              <a:avLst/>
            </a:prstGeom>
          </p:spPr>
          <p:txBody>
            <a:bodyPr anchor="t" rtlCol="false" tIns="0" lIns="0" bIns="0" rIns="0">
              <a:spAutoFit/>
            </a:bodyPr>
            <a:lstStyle/>
            <a:p>
              <a:pPr algn="ctr">
                <a:lnSpc>
                  <a:spcPts val="4583"/>
                </a:lnSpc>
              </a:pPr>
              <a:r>
                <a:rPr lang="en-US" b="true" sz="3273">
                  <a:solidFill>
                    <a:srgbClr val="FFFFFF"/>
                  </a:solidFill>
                  <a:latin typeface="RoxboroughCF Bold"/>
                  <a:ea typeface="RoxboroughCF Bold"/>
                  <a:cs typeface="RoxboroughCF Bold"/>
                  <a:sym typeface="RoxboroughCF Bold"/>
                </a:rPr>
                <a:t>3</a:t>
              </a:r>
            </a:p>
          </p:txBody>
        </p:sp>
        <p:sp>
          <p:nvSpPr>
            <p:cNvPr name="TextBox 20" id="20"/>
            <p:cNvSpPr txBox="true"/>
            <p:nvPr/>
          </p:nvSpPr>
          <p:spPr>
            <a:xfrm rot="0">
              <a:off x="16665468" y="76167"/>
              <a:ext cx="4850306" cy="745949"/>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Les avantages de l’Intégration Continue</a:t>
              </a:r>
            </a:p>
          </p:txBody>
        </p:sp>
      </p:grpSp>
      <p:sp>
        <p:nvSpPr>
          <p:cNvPr name="TextBox 21" id="2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a:t>
            </a:r>
          </a:p>
        </p:txBody>
      </p:sp>
      <p:grpSp>
        <p:nvGrpSpPr>
          <p:cNvPr name="Group 22" id="22"/>
          <p:cNvGrpSpPr/>
          <p:nvPr/>
        </p:nvGrpSpPr>
        <p:grpSpPr>
          <a:xfrm rot="0">
            <a:off x="1117322" y="4054223"/>
            <a:ext cx="16137671" cy="697997"/>
            <a:chOff x="0" y="0"/>
            <a:chExt cx="21516894" cy="930663"/>
          </a:xfrm>
        </p:grpSpPr>
        <p:grpSp>
          <p:nvGrpSpPr>
            <p:cNvPr name="Group 23" id="23"/>
            <p:cNvGrpSpPr/>
            <p:nvPr/>
          </p:nvGrpSpPr>
          <p:grpSpPr>
            <a:xfrm rot="0">
              <a:off x="0" y="82377"/>
              <a:ext cx="830919" cy="830919"/>
              <a:chOff x="0" y="0"/>
              <a:chExt cx="6350000" cy="6350000"/>
            </a:xfrm>
          </p:grpSpPr>
          <p:sp>
            <p:nvSpPr>
              <p:cNvPr name="Freeform 24" id="2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25" id="25"/>
            <p:cNvSpPr txBox="true"/>
            <p:nvPr/>
          </p:nvSpPr>
          <p:spPr>
            <a:xfrm rot="0">
              <a:off x="153045" y="100335"/>
              <a:ext cx="524828" cy="730584"/>
            </a:xfrm>
            <a:prstGeom prst="rect">
              <a:avLst/>
            </a:prstGeom>
          </p:spPr>
          <p:txBody>
            <a:bodyPr anchor="t" rtlCol="false" tIns="0" lIns="0" bIns="0" rIns="0">
              <a:spAutoFit/>
            </a:bodyPr>
            <a:lstStyle/>
            <a:p>
              <a:pPr algn="ctr">
                <a:lnSpc>
                  <a:spcPts val="4583"/>
                </a:lnSpc>
              </a:pPr>
              <a:r>
                <a:rPr lang="en-US" b="true" sz="3273">
                  <a:solidFill>
                    <a:srgbClr val="FFFFFF"/>
                  </a:solidFill>
                  <a:latin typeface="RoxboroughCF Bold"/>
                  <a:ea typeface="RoxboroughCF Bold"/>
                  <a:cs typeface="RoxboroughCF Bold"/>
                  <a:sym typeface="RoxboroughCF Bold"/>
                </a:rPr>
                <a:t>4</a:t>
              </a:r>
            </a:p>
          </p:txBody>
        </p:sp>
        <p:sp>
          <p:nvSpPr>
            <p:cNvPr name="TextBox 26" id="26"/>
            <p:cNvSpPr txBox="true"/>
            <p:nvPr/>
          </p:nvSpPr>
          <p:spPr>
            <a:xfrm rot="0">
              <a:off x="1221306" y="305333"/>
              <a:ext cx="4850306" cy="377737"/>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Outils d'Intégration Continue</a:t>
              </a:r>
            </a:p>
          </p:txBody>
        </p:sp>
        <p:grpSp>
          <p:nvGrpSpPr>
            <p:cNvPr name="Group 27" id="27"/>
            <p:cNvGrpSpPr/>
            <p:nvPr/>
          </p:nvGrpSpPr>
          <p:grpSpPr>
            <a:xfrm rot="0">
              <a:off x="7942476" y="99744"/>
              <a:ext cx="830919" cy="830919"/>
              <a:chOff x="0" y="0"/>
              <a:chExt cx="6350000" cy="6350000"/>
            </a:xfrm>
          </p:grpSpPr>
          <p:sp>
            <p:nvSpPr>
              <p:cNvPr name="Freeform 28" id="2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29" id="29"/>
            <p:cNvSpPr txBox="true"/>
            <p:nvPr/>
          </p:nvSpPr>
          <p:spPr>
            <a:xfrm rot="0">
              <a:off x="8095521" y="117702"/>
              <a:ext cx="524828" cy="730584"/>
            </a:xfrm>
            <a:prstGeom prst="rect">
              <a:avLst/>
            </a:prstGeom>
          </p:spPr>
          <p:txBody>
            <a:bodyPr anchor="t" rtlCol="false" tIns="0" lIns="0" bIns="0" rIns="0">
              <a:spAutoFit/>
            </a:bodyPr>
            <a:lstStyle/>
            <a:p>
              <a:pPr algn="ctr">
                <a:lnSpc>
                  <a:spcPts val="4583"/>
                </a:lnSpc>
              </a:pPr>
              <a:r>
                <a:rPr lang="en-US" b="true" sz="3273">
                  <a:solidFill>
                    <a:srgbClr val="FFFFFF"/>
                  </a:solidFill>
                  <a:latin typeface="RoxboroughCF Bold"/>
                  <a:ea typeface="RoxboroughCF Bold"/>
                  <a:cs typeface="RoxboroughCF Bold"/>
                  <a:sym typeface="RoxboroughCF Bold"/>
                </a:rPr>
                <a:t>5</a:t>
              </a:r>
            </a:p>
          </p:txBody>
        </p:sp>
        <p:sp>
          <p:nvSpPr>
            <p:cNvPr name="TextBox 30" id="30"/>
            <p:cNvSpPr txBox="true"/>
            <p:nvPr/>
          </p:nvSpPr>
          <p:spPr>
            <a:xfrm rot="0">
              <a:off x="9071237" y="304205"/>
              <a:ext cx="4850306" cy="377737"/>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Présentation de Jenkins</a:t>
              </a:r>
            </a:p>
          </p:txBody>
        </p:sp>
        <p:grpSp>
          <p:nvGrpSpPr>
            <p:cNvPr name="Group 31" id="31"/>
            <p:cNvGrpSpPr/>
            <p:nvPr/>
          </p:nvGrpSpPr>
          <p:grpSpPr>
            <a:xfrm rot="0">
              <a:off x="15543569" y="0"/>
              <a:ext cx="830919" cy="830919"/>
              <a:chOff x="0" y="0"/>
              <a:chExt cx="6350000" cy="6350000"/>
            </a:xfrm>
          </p:grpSpPr>
          <p:sp>
            <p:nvSpPr>
              <p:cNvPr name="Freeform 32" id="3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33" id="33"/>
            <p:cNvSpPr txBox="true"/>
            <p:nvPr/>
          </p:nvSpPr>
          <p:spPr>
            <a:xfrm rot="0">
              <a:off x="15696615" y="17958"/>
              <a:ext cx="524828" cy="730584"/>
            </a:xfrm>
            <a:prstGeom prst="rect">
              <a:avLst/>
            </a:prstGeom>
          </p:spPr>
          <p:txBody>
            <a:bodyPr anchor="t" rtlCol="false" tIns="0" lIns="0" bIns="0" rIns="0">
              <a:spAutoFit/>
            </a:bodyPr>
            <a:lstStyle/>
            <a:p>
              <a:pPr algn="ctr">
                <a:lnSpc>
                  <a:spcPts val="4583"/>
                </a:lnSpc>
              </a:pPr>
              <a:r>
                <a:rPr lang="en-US" b="true" sz="3273">
                  <a:solidFill>
                    <a:srgbClr val="FFFFFF"/>
                  </a:solidFill>
                  <a:latin typeface="RoxboroughCF Bold"/>
                  <a:ea typeface="RoxboroughCF Bold"/>
                  <a:cs typeface="RoxboroughCF Bold"/>
                  <a:sym typeface="RoxboroughCF Bold"/>
                </a:rPr>
                <a:t>6</a:t>
              </a:r>
            </a:p>
          </p:txBody>
        </p:sp>
        <p:sp>
          <p:nvSpPr>
            <p:cNvPr name="TextBox 34" id="34"/>
            <p:cNvSpPr txBox="true"/>
            <p:nvPr/>
          </p:nvSpPr>
          <p:spPr>
            <a:xfrm rot="0">
              <a:off x="16666588" y="284084"/>
              <a:ext cx="4850306" cy="377737"/>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Historique et origine de Jenkins</a:t>
              </a:r>
            </a:p>
          </p:txBody>
        </p:sp>
      </p:grpSp>
      <p:grpSp>
        <p:nvGrpSpPr>
          <p:cNvPr name="Group 35" id="35"/>
          <p:cNvGrpSpPr/>
          <p:nvPr/>
        </p:nvGrpSpPr>
        <p:grpSpPr>
          <a:xfrm rot="0">
            <a:off x="1117322" y="5488828"/>
            <a:ext cx="16206737" cy="631715"/>
            <a:chOff x="0" y="0"/>
            <a:chExt cx="21608982" cy="842287"/>
          </a:xfrm>
        </p:grpSpPr>
        <p:grpSp>
          <p:nvGrpSpPr>
            <p:cNvPr name="Group 36" id="36"/>
            <p:cNvGrpSpPr/>
            <p:nvPr/>
          </p:nvGrpSpPr>
          <p:grpSpPr>
            <a:xfrm rot="0">
              <a:off x="0" y="0"/>
              <a:ext cx="899044" cy="830919"/>
              <a:chOff x="0" y="0"/>
              <a:chExt cx="6870620" cy="6350000"/>
            </a:xfrm>
          </p:grpSpPr>
          <p:sp>
            <p:nvSpPr>
              <p:cNvPr name="Freeform 37" id="37"/>
              <p:cNvSpPr/>
              <p:nvPr/>
            </p:nvSpPr>
            <p:spPr>
              <a:xfrm flipH="false" flipV="false" rot="0">
                <a:off x="0" y="0"/>
                <a:ext cx="6870619" cy="6350000"/>
              </a:xfrm>
              <a:custGeom>
                <a:avLst/>
                <a:gdLst/>
                <a:ahLst/>
                <a:cxnLst/>
                <a:rect r="r" b="b" t="t" l="l"/>
                <a:pathLst>
                  <a:path h="6350000" w="6870619">
                    <a:moveTo>
                      <a:pt x="3435310" y="0"/>
                    </a:moveTo>
                    <a:cubicBezTo>
                      <a:pt x="1538041" y="0"/>
                      <a:pt x="0" y="1421496"/>
                      <a:pt x="0" y="3175000"/>
                    </a:cubicBezTo>
                    <a:cubicBezTo>
                      <a:pt x="0" y="4928504"/>
                      <a:pt x="1538041" y="6350000"/>
                      <a:pt x="3435310" y="6350000"/>
                    </a:cubicBezTo>
                    <a:cubicBezTo>
                      <a:pt x="5332579" y="6350000"/>
                      <a:pt x="6870619" y="4928504"/>
                      <a:pt x="6870619" y="3175000"/>
                    </a:cubicBezTo>
                    <a:cubicBezTo>
                      <a:pt x="6870619" y="1421496"/>
                      <a:pt x="5332579" y="0"/>
                      <a:pt x="3435310" y="0"/>
                    </a:cubicBezTo>
                    <a:close/>
                  </a:path>
                </a:pathLst>
              </a:custGeom>
              <a:solidFill>
                <a:srgbClr val="000000"/>
              </a:solidFill>
            </p:spPr>
          </p:sp>
        </p:grpSp>
        <p:sp>
          <p:nvSpPr>
            <p:cNvPr name="TextBox 38" id="38"/>
            <p:cNvSpPr txBox="true"/>
            <p:nvPr/>
          </p:nvSpPr>
          <p:spPr>
            <a:xfrm rot="0">
              <a:off x="165593" y="-15040"/>
              <a:ext cx="567857" cy="730584"/>
            </a:xfrm>
            <a:prstGeom prst="rect">
              <a:avLst/>
            </a:prstGeom>
          </p:spPr>
          <p:txBody>
            <a:bodyPr anchor="t" rtlCol="false" tIns="0" lIns="0" bIns="0" rIns="0">
              <a:spAutoFit/>
            </a:bodyPr>
            <a:lstStyle/>
            <a:p>
              <a:pPr algn="ctr">
                <a:lnSpc>
                  <a:spcPts val="4583"/>
                </a:lnSpc>
              </a:pPr>
              <a:r>
                <a:rPr lang="en-US" b="true" sz="3273">
                  <a:solidFill>
                    <a:srgbClr val="FFFFFF"/>
                  </a:solidFill>
                  <a:latin typeface="RoxboroughCF Bold"/>
                  <a:ea typeface="RoxboroughCF Bold"/>
                  <a:cs typeface="RoxboroughCF Bold"/>
                  <a:sym typeface="RoxboroughCF Bold"/>
                </a:rPr>
                <a:t>7</a:t>
              </a:r>
            </a:p>
          </p:txBody>
        </p:sp>
        <p:sp>
          <p:nvSpPr>
            <p:cNvPr name="TextBox 39" id="39"/>
            <p:cNvSpPr txBox="true"/>
            <p:nvPr/>
          </p:nvSpPr>
          <p:spPr>
            <a:xfrm rot="0">
              <a:off x="1307651" y="42110"/>
              <a:ext cx="5247970" cy="745949"/>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Installation et configuration de Jenkins</a:t>
              </a:r>
            </a:p>
          </p:txBody>
        </p:sp>
        <p:grpSp>
          <p:nvGrpSpPr>
            <p:cNvPr name="Group 40" id="40"/>
            <p:cNvGrpSpPr/>
            <p:nvPr/>
          </p:nvGrpSpPr>
          <p:grpSpPr>
            <a:xfrm rot="0">
              <a:off x="8068137" y="10240"/>
              <a:ext cx="830919" cy="830919"/>
              <a:chOff x="0" y="0"/>
              <a:chExt cx="6350000" cy="6350000"/>
            </a:xfrm>
          </p:grpSpPr>
          <p:sp>
            <p:nvSpPr>
              <p:cNvPr name="Freeform 41" id="4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42" id="42"/>
            <p:cNvSpPr txBox="true"/>
            <p:nvPr/>
          </p:nvSpPr>
          <p:spPr>
            <a:xfrm rot="0">
              <a:off x="8221182" y="28198"/>
              <a:ext cx="524828" cy="730584"/>
            </a:xfrm>
            <a:prstGeom prst="rect">
              <a:avLst/>
            </a:prstGeom>
          </p:spPr>
          <p:txBody>
            <a:bodyPr anchor="t" rtlCol="false" tIns="0" lIns="0" bIns="0" rIns="0">
              <a:spAutoFit/>
            </a:bodyPr>
            <a:lstStyle/>
            <a:p>
              <a:pPr algn="ctr">
                <a:lnSpc>
                  <a:spcPts val="4583"/>
                </a:lnSpc>
              </a:pPr>
              <a:r>
                <a:rPr lang="en-US" b="true" sz="3273">
                  <a:solidFill>
                    <a:srgbClr val="FFFFFF"/>
                  </a:solidFill>
                  <a:latin typeface="RoxboroughCF Bold"/>
                  <a:ea typeface="RoxboroughCF Bold"/>
                  <a:cs typeface="RoxboroughCF Bold"/>
                  <a:sym typeface="RoxboroughCF Bold"/>
                </a:rPr>
                <a:t>8</a:t>
              </a:r>
            </a:p>
          </p:txBody>
        </p:sp>
        <p:sp>
          <p:nvSpPr>
            <p:cNvPr name="TextBox 43" id="43"/>
            <p:cNvSpPr txBox="true"/>
            <p:nvPr/>
          </p:nvSpPr>
          <p:spPr>
            <a:xfrm rot="0">
              <a:off x="9196899" y="48884"/>
              <a:ext cx="4850306" cy="745949"/>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Création d’un pipeline d’intégration continue</a:t>
              </a:r>
            </a:p>
          </p:txBody>
        </p:sp>
        <p:grpSp>
          <p:nvGrpSpPr>
            <p:cNvPr name="Group 44" id="44"/>
            <p:cNvGrpSpPr/>
            <p:nvPr/>
          </p:nvGrpSpPr>
          <p:grpSpPr>
            <a:xfrm rot="0">
              <a:off x="15629915" y="11368"/>
              <a:ext cx="830919" cy="830919"/>
              <a:chOff x="0" y="0"/>
              <a:chExt cx="6350000" cy="6350000"/>
            </a:xfrm>
          </p:grpSpPr>
          <p:sp>
            <p:nvSpPr>
              <p:cNvPr name="Freeform 45" id="4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46" id="46"/>
            <p:cNvSpPr txBox="true"/>
            <p:nvPr/>
          </p:nvSpPr>
          <p:spPr>
            <a:xfrm rot="0">
              <a:off x="15782960" y="29326"/>
              <a:ext cx="524828" cy="730584"/>
            </a:xfrm>
            <a:prstGeom prst="rect">
              <a:avLst/>
            </a:prstGeom>
          </p:spPr>
          <p:txBody>
            <a:bodyPr anchor="t" rtlCol="false" tIns="0" lIns="0" bIns="0" rIns="0">
              <a:spAutoFit/>
            </a:bodyPr>
            <a:lstStyle/>
            <a:p>
              <a:pPr algn="ctr">
                <a:lnSpc>
                  <a:spcPts val="4583"/>
                </a:lnSpc>
              </a:pPr>
              <a:r>
                <a:rPr lang="en-US" b="true" sz="3273">
                  <a:solidFill>
                    <a:srgbClr val="FFFFFF"/>
                  </a:solidFill>
                  <a:latin typeface="RoxboroughCF Bold"/>
                  <a:ea typeface="RoxboroughCF Bold"/>
                  <a:cs typeface="RoxboroughCF Bold"/>
                  <a:sym typeface="RoxboroughCF Bold"/>
                </a:rPr>
                <a:t>9</a:t>
              </a:r>
            </a:p>
          </p:txBody>
        </p:sp>
        <p:sp>
          <p:nvSpPr>
            <p:cNvPr name="TextBox 47" id="47"/>
            <p:cNvSpPr txBox="true"/>
            <p:nvPr/>
          </p:nvSpPr>
          <p:spPr>
            <a:xfrm rot="0">
              <a:off x="16758676" y="86476"/>
              <a:ext cx="4850306" cy="745949"/>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Automatisation du build, des tests et du déploiement</a:t>
              </a:r>
            </a:p>
          </p:txBody>
        </p:sp>
      </p:grpSp>
      <p:grpSp>
        <p:nvGrpSpPr>
          <p:cNvPr name="Group 48" id="48"/>
          <p:cNvGrpSpPr/>
          <p:nvPr/>
        </p:nvGrpSpPr>
        <p:grpSpPr>
          <a:xfrm rot="0">
            <a:off x="1117322" y="6857151"/>
            <a:ext cx="16214656" cy="752294"/>
            <a:chOff x="0" y="0"/>
            <a:chExt cx="21619541" cy="1003059"/>
          </a:xfrm>
        </p:grpSpPr>
        <p:grpSp>
          <p:nvGrpSpPr>
            <p:cNvPr name="Group 49" id="49"/>
            <p:cNvGrpSpPr/>
            <p:nvPr/>
          </p:nvGrpSpPr>
          <p:grpSpPr>
            <a:xfrm rot="0">
              <a:off x="0" y="0"/>
              <a:ext cx="899044" cy="830919"/>
              <a:chOff x="0" y="0"/>
              <a:chExt cx="6870620" cy="6350000"/>
            </a:xfrm>
          </p:grpSpPr>
          <p:sp>
            <p:nvSpPr>
              <p:cNvPr name="Freeform 50" id="50"/>
              <p:cNvSpPr/>
              <p:nvPr/>
            </p:nvSpPr>
            <p:spPr>
              <a:xfrm flipH="false" flipV="false" rot="0">
                <a:off x="0" y="0"/>
                <a:ext cx="6870619" cy="6350000"/>
              </a:xfrm>
              <a:custGeom>
                <a:avLst/>
                <a:gdLst/>
                <a:ahLst/>
                <a:cxnLst/>
                <a:rect r="r" b="b" t="t" l="l"/>
                <a:pathLst>
                  <a:path h="6350000" w="6870619">
                    <a:moveTo>
                      <a:pt x="3435310" y="0"/>
                    </a:moveTo>
                    <a:cubicBezTo>
                      <a:pt x="1538041" y="0"/>
                      <a:pt x="0" y="1421496"/>
                      <a:pt x="0" y="3175000"/>
                    </a:cubicBezTo>
                    <a:cubicBezTo>
                      <a:pt x="0" y="4928504"/>
                      <a:pt x="1538041" y="6350000"/>
                      <a:pt x="3435310" y="6350000"/>
                    </a:cubicBezTo>
                    <a:cubicBezTo>
                      <a:pt x="5332579" y="6350000"/>
                      <a:pt x="6870619" y="4928504"/>
                      <a:pt x="6870619" y="3175000"/>
                    </a:cubicBezTo>
                    <a:cubicBezTo>
                      <a:pt x="6870619" y="1421496"/>
                      <a:pt x="5332579" y="0"/>
                      <a:pt x="3435310" y="0"/>
                    </a:cubicBezTo>
                    <a:close/>
                  </a:path>
                </a:pathLst>
              </a:custGeom>
              <a:solidFill>
                <a:srgbClr val="000000"/>
              </a:solidFill>
            </p:spPr>
          </p:sp>
        </p:grpSp>
        <p:sp>
          <p:nvSpPr>
            <p:cNvPr name="TextBox 51" id="51"/>
            <p:cNvSpPr txBox="true"/>
            <p:nvPr/>
          </p:nvSpPr>
          <p:spPr>
            <a:xfrm rot="0">
              <a:off x="165593" y="17958"/>
              <a:ext cx="567857" cy="708394"/>
            </a:xfrm>
            <a:prstGeom prst="rect">
              <a:avLst/>
            </a:prstGeom>
          </p:spPr>
          <p:txBody>
            <a:bodyPr anchor="t" rtlCol="false" tIns="0" lIns="0" bIns="0" rIns="0">
              <a:spAutoFit/>
            </a:bodyPr>
            <a:lstStyle/>
            <a:p>
              <a:pPr algn="ctr">
                <a:lnSpc>
                  <a:spcPts val="4443"/>
                </a:lnSpc>
              </a:pPr>
              <a:r>
                <a:rPr lang="en-US" b="true" sz="3173">
                  <a:solidFill>
                    <a:srgbClr val="FFFFFF"/>
                  </a:solidFill>
                  <a:latin typeface="RoxboroughCF Bold"/>
                  <a:ea typeface="RoxboroughCF Bold"/>
                  <a:cs typeface="RoxboroughCF Bold"/>
                  <a:sym typeface="RoxboroughCF Bold"/>
                </a:rPr>
                <a:t>10</a:t>
              </a:r>
            </a:p>
          </p:txBody>
        </p:sp>
        <p:sp>
          <p:nvSpPr>
            <p:cNvPr name="TextBox 52" id="52"/>
            <p:cNvSpPr txBox="true"/>
            <p:nvPr/>
          </p:nvSpPr>
          <p:spPr>
            <a:xfrm rot="0">
              <a:off x="1243270" y="221828"/>
              <a:ext cx="5247970" cy="377737"/>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Plugins et extensions pour Jenkins</a:t>
              </a:r>
            </a:p>
          </p:txBody>
        </p:sp>
        <p:grpSp>
          <p:nvGrpSpPr>
            <p:cNvPr name="Group 53" id="53"/>
            <p:cNvGrpSpPr/>
            <p:nvPr/>
          </p:nvGrpSpPr>
          <p:grpSpPr>
            <a:xfrm rot="0">
              <a:off x="7962134" y="34735"/>
              <a:ext cx="830919" cy="830919"/>
              <a:chOff x="0" y="0"/>
              <a:chExt cx="6350000" cy="6350000"/>
            </a:xfrm>
          </p:grpSpPr>
          <p:sp>
            <p:nvSpPr>
              <p:cNvPr name="Freeform 54" id="5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55" id="55"/>
            <p:cNvSpPr txBox="true"/>
            <p:nvPr/>
          </p:nvSpPr>
          <p:spPr>
            <a:xfrm rot="0">
              <a:off x="8115179" y="52693"/>
              <a:ext cx="524828" cy="730584"/>
            </a:xfrm>
            <a:prstGeom prst="rect">
              <a:avLst/>
            </a:prstGeom>
          </p:spPr>
          <p:txBody>
            <a:bodyPr anchor="t" rtlCol="false" tIns="0" lIns="0" bIns="0" rIns="0">
              <a:spAutoFit/>
            </a:bodyPr>
            <a:lstStyle/>
            <a:p>
              <a:pPr algn="ctr">
                <a:lnSpc>
                  <a:spcPts val="4583"/>
                </a:lnSpc>
              </a:pPr>
              <a:r>
                <a:rPr lang="en-US" b="true" sz="3273">
                  <a:solidFill>
                    <a:srgbClr val="FFFFFF"/>
                  </a:solidFill>
                  <a:latin typeface="RoxboroughCF Bold"/>
                  <a:ea typeface="RoxboroughCF Bold"/>
                  <a:cs typeface="RoxboroughCF Bold"/>
                  <a:sym typeface="RoxboroughCF Bold"/>
                </a:rPr>
                <a:t>11</a:t>
              </a:r>
            </a:p>
          </p:txBody>
        </p:sp>
        <p:sp>
          <p:nvSpPr>
            <p:cNvPr name="TextBox 56" id="56"/>
            <p:cNvSpPr txBox="true"/>
            <p:nvPr/>
          </p:nvSpPr>
          <p:spPr>
            <a:xfrm rot="0">
              <a:off x="9110553" y="109843"/>
              <a:ext cx="4850306" cy="745949"/>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Mise en œuvre de l’Intégration Continue</a:t>
              </a:r>
            </a:p>
          </p:txBody>
        </p:sp>
        <p:grpSp>
          <p:nvGrpSpPr>
            <p:cNvPr name="Group 57" id="57"/>
            <p:cNvGrpSpPr/>
            <p:nvPr/>
          </p:nvGrpSpPr>
          <p:grpSpPr>
            <a:xfrm rot="0">
              <a:off x="15536706" y="172140"/>
              <a:ext cx="830919" cy="830919"/>
              <a:chOff x="0" y="0"/>
              <a:chExt cx="6350000" cy="6350000"/>
            </a:xfrm>
          </p:grpSpPr>
          <p:sp>
            <p:nvSpPr>
              <p:cNvPr name="Freeform 58" id="5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59" id="59"/>
            <p:cNvSpPr txBox="true"/>
            <p:nvPr/>
          </p:nvSpPr>
          <p:spPr>
            <a:xfrm rot="0">
              <a:off x="15689751" y="190098"/>
              <a:ext cx="524828" cy="708394"/>
            </a:xfrm>
            <a:prstGeom prst="rect">
              <a:avLst/>
            </a:prstGeom>
          </p:spPr>
          <p:txBody>
            <a:bodyPr anchor="t" rtlCol="false" tIns="0" lIns="0" bIns="0" rIns="0">
              <a:spAutoFit/>
            </a:bodyPr>
            <a:lstStyle/>
            <a:p>
              <a:pPr algn="ctr">
                <a:lnSpc>
                  <a:spcPts val="4443"/>
                </a:lnSpc>
              </a:pPr>
              <a:r>
                <a:rPr lang="en-US" b="true" sz="3173">
                  <a:solidFill>
                    <a:srgbClr val="FFFFFF"/>
                  </a:solidFill>
                  <a:latin typeface="RoxboroughCF Bold"/>
                  <a:ea typeface="RoxboroughCF Bold"/>
                  <a:cs typeface="RoxboroughCF Bold"/>
                  <a:sym typeface="RoxboroughCF Bold"/>
                </a:rPr>
                <a:t>12</a:t>
              </a:r>
            </a:p>
          </p:txBody>
        </p:sp>
        <p:sp>
          <p:nvSpPr>
            <p:cNvPr name="TextBox 60" id="60"/>
            <p:cNvSpPr txBox="true"/>
            <p:nvPr/>
          </p:nvSpPr>
          <p:spPr>
            <a:xfrm rot="0">
              <a:off x="16769235" y="384002"/>
              <a:ext cx="4850306" cy="377737"/>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Démonstration</a:t>
              </a:r>
            </a:p>
          </p:txBody>
        </p:sp>
      </p:grpSp>
      <p:grpSp>
        <p:nvGrpSpPr>
          <p:cNvPr name="Group 61" id="61"/>
          <p:cNvGrpSpPr/>
          <p:nvPr/>
        </p:nvGrpSpPr>
        <p:grpSpPr>
          <a:xfrm rot="0">
            <a:off x="1117322" y="8346053"/>
            <a:ext cx="674283" cy="623189"/>
            <a:chOff x="0" y="0"/>
            <a:chExt cx="6870620" cy="6350000"/>
          </a:xfrm>
        </p:grpSpPr>
        <p:sp>
          <p:nvSpPr>
            <p:cNvPr name="Freeform 62" id="62"/>
            <p:cNvSpPr/>
            <p:nvPr/>
          </p:nvSpPr>
          <p:spPr>
            <a:xfrm flipH="false" flipV="false" rot="0">
              <a:off x="0" y="0"/>
              <a:ext cx="6870619" cy="6350000"/>
            </a:xfrm>
            <a:custGeom>
              <a:avLst/>
              <a:gdLst/>
              <a:ahLst/>
              <a:cxnLst/>
              <a:rect r="r" b="b" t="t" l="l"/>
              <a:pathLst>
                <a:path h="6350000" w="6870619">
                  <a:moveTo>
                    <a:pt x="3435310" y="0"/>
                  </a:moveTo>
                  <a:cubicBezTo>
                    <a:pt x="1538041" y="0"/>
                    <a:pt x="0" y="1421496"/>
                    <a:pt x="0" y="3175000"/>
                  </a:cubicBezTo>
                  <a:cubicBezTo>
                    <a:pt x="0" y="4928504"/>
                    <a:pt x="1538041" y="6350000"/>
                    <a:pt x="3435310" y="6350000"/>
                  </a:cubicBezTo>
                  <a:cubicBezTo>
                    <a:pt x="5332579" y="6350000"/>
                    <a:pt x="6870619" y="4928504"/>
                    <a:pt x="6870619" y="3175000"/>
                  </a:cubicBezTo>
                  <a:cubicBezTo>
                    <a:pt x="6870619" y="1421496"/>
                    <a:pt x="5332579" y="0"/>
                    <a:pt x="3435310" y="0"/>
                  </a:cubicBezTo>
                  <a:close/>
                </a:path>
              </a:pathLst>
            </a:custGeom>
            <a:solidFill>
              <a:srgbClr val="000000"/>
            </a:solidFill>
          </p:spPr>
        </p:sp>
      </p:grpSp>
      <p:sp>
        <p:nvSpPr>
          <p:cNvPr name="TextBox 63" id="63"/>
          <p:cNvSpPr txBox="true"/>
          <p:nvPr/>
        </p:nvSpPr>
        <p:spPr>
          <a:xfrm rot="0">
            <a:off x="1241517" y="8342852"/>
            <a:ext cx="425893" cy="564607"/>
          </a:xfrm>
          <a:prstGeom prst="rect">
            <a:avLst/>
          </a:prstGeom>
        </p:spPr>
        <p:txBody>
          <a:bodyPr anchor="t" rtlCol="false" tIns="0" lIns="0" bIns="0" rIns="0">
            <a:spAutoFit/>
          </a:bodyPr>
          <a:lstStyle/>
          <a:p>
            <a:pPr algn="ctr">
              <a:lnSpc>
                <a:spcPts val="4583"/>
              </a:lnSpc>
            </a:pPr>
            <a:r>
              <a:rPr lang="en-US" b="true" sz="3273">
                <a:solidFill>
                  <a:srgbClr val="FFFFFF"/>
                </a:solidFill>
                <a:latin typeface="RoxboroughCF Bold"/>
                <a:ea typeface="RoxboroughCF Bold"/>
                <a:cs typeface="RoxboroughCF Bold"/>
                <a:sym typeface="RoxboroughCF Bold"/>
              </a:rPr>
              <a:t>13</a:t>
            </a:r>
          </a:p>
        </p:txBody>
      </p:sp>
      <p:sp>
        <p:nvSpPr>
          <p:cNvPr name="TextBox 64" id="64"/>
          <p:cNvSpPr txBox="true"/>
          <p:nvPr/>
        </p:nvSpPr>
        <p:spPr>
          <a:xfrm rot="0">
            <a:off x="1988688" y="8510889"/>
            <a:ext cx="3935977" cy="285684"/>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Bonnes pratiques </a:t>
            </a:r>
          </a:p>
        </p:txBody>
      </p:sp>
      <p:grpSp>
        <p:nvGrpSpPr>
          <p:cNvPr name="Group 65" id="65"/>
          <p:cNvGrpSpPr/>
          <p:nvPr/>
        </p:nvGrpSpPr>
        <p:grpSpPr>
          <a:xfrm rot="0">
            <a:off x="7074179" y="8390475"/>
            <a:ext cx="623189" cy="623189"/>
            <a:chOff x="0" y="0"/>
            <a:chExt cx="6350000" cy="6350000"/>
          </a:xfrm>
        </p:grpSpPr>
        <p:sp>
          <p:nvSpPr>
            <p:cNvPr name="Freeform 66" id="6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67" id="67"/>
          <p:cNvSpPr txBox="true"/>
          <p:nvPr/>
        </p:nvSpPr>
        <p:spPr>
          <a:xfrm rot="0">
            <a:off x="7188963" y="8387274"/>
            <a:ext cx="508405" cy="564607"/>
          </a:xfrm>
          <a:prstGeom prst="rect">
            <a:avLst/>
          </a:prstGeom>
        </p:spPr>
        <p:txBody>
          <a:bodyPr anchor="t" rtlCol="false" tIns="0" lIns="0" bIns="0" rIns="0">
            <a:spAutoFit/>
          </a:bodyPr>
          <a:lstStyle/>
          <a:p>
            <a:pPr algn="ctr">
              <a:lnSpc>
                <a:spcPts val="4583"/>
              </a:lnSpc>
            </a:pPr>
            <a:r>
              <a:rPr lang="en-US" b="true" sz="3273">
                <a:solidFill>
                  <a:srgbClr val="FFFFFF"/>
                </a:solidFill>
                <a:latin typeface="RoxboroughCF Bold"/>
                <a:ea typeface="RoxboroughCF Bold"/>
                <a:cs typeface="RoxboroughCF Bold"/>
                <a:sym typeface="RoxboroughCF Bold"/>
              </a:rPr>
              <a:t>14</a:t>
            </a:r>
          </a:p>
        </p:txBody>
      </p:sp>
      <p:sp>
        <p:nvSpPr>
          <p:cNvPr name="TextBox 68" id="68"/>
          <p:cNvSpPr txBox="true"/>
          <p:nvPr/>
        </p:nvSpPr>
        <p:spPr>
          <a:xfrm rot="0">
            <a:off x="7920750" y="8417779"/>
            <a:ext cx="3637730" cy="561843"/>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Ouverture : vers la livraison continue (CD)</a:t>
            </a:r>
          </a:p>
        </p:txBody>
      </p:sp>
      <p:grpSp>
        <p:nvGrpSpPr>
          <p:cNvPr name="Group 69" id="69"/>
          <p:cNvGrpSpPr/>
          <p:nvPr/>
        </p:nvGrpSpPr>
        <p:grpSpPr>
          <a:xfrm rot="0">
            <a:off x="12769852" y="8381282"/>
            <a:ext cx="623189" cy="623189"/>
            <a:chOff x="0" y="0"/>
            <a:chExt cx="6350000" cy="6350000"/>
          </a:xfrm>
        </p:grpSpPr>
        <p:sp>
          <p:nvSpPr>
            <p:cNvPr name="Freeform 70" id="7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71" id="71"/>
          <p:cNvSpPr txBox="true"/>
          <p:nvPr/>
        </p:nvSpPr>
        <p:spPr>
          <a:xfrm rot="0">
            <a:off x="12884636" y="8378081"/>
            <a:ext cx="393621" cy="547964"/>
          </a:xfrm>
          <a:prstGeom prst="rect">
            <a:avLst/>
          </a:prstGeom>
        </p:spPr>
        <p:txBody>
          <a:bodyPr anchor="t" rtlCol="false" tIns="0" lIns="0" bIns="0" rIns="0">
            <a:spAutoFit/>
          </a:bodyPr>
          <a:lstStyle/>
          <a:p>
            <a:pPr algn="ctr">
              <a:lnSpc>
                <a:spcPts val="4443"/>
              </a:lnSpc>
            </a:pPr>
            <a:r>
              <a:rPr lang="en-US" b="true" sz="3173">
                <a:solidFill>
                  <a:srgbClr val="FFFFFF"/>
                </a:solidFill>
                <a:latin typeface="RoxboroughCF Bold"/>
                <a:ea typeface="RoxboroughCF Bold"/>
                <a:cs typeface="RoxboroughCF Bold"/>
                <a:sym typeface="RoxboroughCF Bold"/>
              </a:rPr>
              <a:t>15</a:t>
            </a:r>
          </a:p>
        </p:txBody>
      </p:sp>
      <p:sp>
        <p:nvSpPr>
          <p:cNvPr name="TextBox 72" id="72"/>
          <p:cNvSpPr txBox="true"/>
          <p:nvPr/>
        </p:nvSpPr>
        <p:spPr>
          <a:xfrm rot="0">
            <a:off x="13694248" y="8537796"/>
            <a:ext cx="3637730" cy="285684"/>
          </a:xfrm>
          <a:prstGeom prst="rect">
            <a:avLst/>
          </a:prstGeom>
        </p:spPr>
        <p:txBody>
          <a:bodyPr anchor="t" rtlCol="false" tIns="0" lIns="0" bIns="0" rIns="0">
            <a:spAutoFit/>
          </a:bodyPr>
          <a:lstStyle/>
          <a:p>
            <a:pPr algn="l">
              <a:lnSpc>
                <a:spcPts val="2182"/>
              </a:lnSpc>
            </a:pPr>
            <a:r>
              <a:rPr lang="en-US" b="true" sz="1818">
                <a:solidFill>
                  <a:srgbClr val="000000"/>
                </a:solidFill>
                <a:latin typeface="Roboto Bold"/>
                <a:ea typeface="Roboto Bold"/>
                <a:cs typeface="Roboto Bold"/>
                <a:sym typeface="Roboto Bold"/>
              </a:rPr>
              <a:t>Conclusion</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795639" y="3128268"/>
            <a:ext cx="10164659" cy="4924425"/>
          </a:xfrm>
          <a:prstGeom prst="rect">
            <a:avLst/>
          </a:prstGeom>
        </p:spPr>
        <p:txBody>
          <a:bodyPr anchor="t" rtlCol="false" tIns="0" lIns="0" bIns="0" rIns="0">
            <a:spAutoFit/>
          </a:bodyPr>
          <a:lstStyle/>
          <a:p>
            <a:pPr algn="just">
              <a:lnSpc>
                <a:spcPts val="3974"/>
              </a:lnSpc>
            </a:pPr>
            <a:r>
              <a:rPr lang="en-US" sz="2499">
                <a:solidFill>
                  <a:srgbClr val="000000"/>
                </a:solidFill>
                <a:latin typeface="Roboto"/>
                <a:ea typeface="Roboto"/>
                <a:cs typeface="Roboto"/>
                <a:sym typeface="Roboto"/>
              </a:rPr>
              <a:t>D</a:t>
            </a:r>
            <a:r>
              <a:rPr lang="en-US" sz="2499">
                <a:solidFill>
                  <a:srgbClr val="000000"/>
                </a:solidFill>
                <a:latin typeface="Roboto"/>
                <a:ea typeface="Roboto"/>
                <a:cs typeface="Roboto"/>
                <a:sym typeface="Roboto"/>
              </a:rPr>
              <a:t>ans le cadre du développement logiciel, la rapidité, la qualité et la capacité d’adaptation sont devenues des exigences clés pour rester compétitif, produire du bon logiciel respectueux des délais et attirer de nouveaux clients. Pour répondre à ces enjeux, de nombreuses équipes adoptent les méthodes agiles. Cette méthode permet une grande réactivité quant aux demandes du client et augmente par conséquent sa satisfaction. </a:t>
            </a:r>
          </a:p>
          <a:p>
            <a:pPr algn="just">
              <a:lnSpc>
                <a:spcPts val="3974"/>
              </a:lnSpc>
            </a:pPr>
          </a:p>
          <a:p>
            <a:pPr algn="just">
              <a:lnSpc>
                <a:spcPts val="3974"/>
              </a:lnSpc>
            </a:pPr>
            <a:r>
              <a:rPr lang="en-US" b="true" sz="2499">
                <a:solidFill>
                  <a:srgbClr val="000000"/>
                </a:solidFill>
                <a:latin typeface="Roboto Bold"/>
                <a:ea typeface="Roboto Bold"/>
                <a:cs typeface="Roboto Bold"/>
                <a:sym typeface="Roboto Bold"/>
              </a:rPr>
              <a:t>L’une des pratiques les plus populaires issues de la méthode agile est l’intégration continue (IC). </a:t>
            </a:r>
          </a:p>
        </p:txBody>
      </p:sp>
      <p:grpSp>
        <p:nvGrpSpPr>
          <p:cNvPr name="Group 12" id="12"/>
          <p:cNvGrpSpPr/>
          <p:nvPr/>
        </p:nvGrpSpPr>
        <p:grpSpPr>
          <a:xfrm rot="0">
            <a:off x="1165496" y="1169455"/>
            <a:ext cx="1064262" cy="1064262"/>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Freeform 14" id="14"/>
          <p:cNvSpPr/>
          <p:nvPr/>
        </p:nvSpPr>
        <p:spPr>
          <a:xfrm flipH="false" flipV="false" rot="0">
            <a:off x="12219749" y="4086741"/>
            <a:ext cx="5089636" cy="2761128"/>
          </a:xfrm>
          <a:custGeom>
            <a:avLst/>
            <a:gdLst/>
            <a:ahLst/>
            <a:cxnLst/>
            <a:rect r="r" b="b" t="t" l="l"/>
            <a:pathLst>
              <a:path h="2761128" w="5089636">
                <a:moveTo>
                  <a:pt x="0" y="0"/>
                </a:moveTo>
                <a:lnTo>
                  <a:pt x="5089636" y="0"/>
                </a:lnTo>
                <a:lnTo>
                  <a:pt x="5089636" y="2761128"/>
                </a:lnTo>
                <a:lnTo>
                  <a:pt x="0" y="27611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361520" y="1163555"/>
            <a:ext cx="868238" cy="964475"/>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1</a:t>
            </a:r>
          </a:p>
        </p:txBody>
      </p:sp>
      <p:sp>
        <p:nvSpPr>
          <p:cNvPr name="TextBox 16" id="16"/>
          <p:cNvSpPr txBox="true"/>
          <p:nvPr/>
        </p:nvSpPr>
        <p:spPr>
          <a:xfrm rot="0">
            <a:off x="2611243" y="1213301"/>
            <a:ext cx="6212398" cy="962280"/>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In</a:t>
            </a:r>
            <a:r>
              <a:rPr lang="en-US" b="true" sz="3106">
                <a:solidFill>
                  <a:srgbClr val="000000"/>
                </a:solidFill>
                <a:latin typeface="Roboto Bold"/>
                <a:ea typeface="Roboto Bold"/>
                <a:cs typeface="Roboto Bold"/>
                <a:sym typeface="Roboto Bold"/>
              </a:rPr>
              <a:t>troduction à l’intégration continue</a:t>
            </a:r>
          </a:p>
        </p:txBody>
      </p:sp>
      <p:sp>
        <p:nvSpPr>
          <p:cNvPr name="AutoShape 17" id="17"/>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p:nvPr/>
        </p:nvGrpSpPr>
        <p:grpSpPr>
          <a:xfrm rot="0">
            <a:off x="9144000" y="4495446"/>
            <a:ext cx="1293967" cy="1293967"/>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8E8E8"/>
            </a:solidFill>
          </p:spPr>
        </p:sp>
      </p:grpSp>
      <p:grpSp>
        <p:nvGrpSpPr>
          <p:cNvPr name="Group 6" id="6"/>
          <p:cNvGrpSpPr/>
          <p:nvPr/>
        </p:nvGrpSpPr>
        <p:grpSpPr>
          <a:xfrm rot="0">
            <a:off x="9144000" y="6372180"/>
            <a:ext cx="1293967" cy="1293967"/>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8E8E8"/>
            </a:solidFill>
          </p:spPr>
        </p:sp>
      </p:grpSp>
      <p:sp>
        <p:nvSpPr>
          <p:cNvPr name="Freeform 8" id="8"/>
          <p:cNvSpPr/>
          <p:nvPr/>
        </p:nvSpPr>
        <p:spPr>
          <a:xfrm flipH="false" flipV="false" rot="0">
            <a:off x="9345905" y="6574085"/>
            <a:ext cx="890157" cy="890157"/>
          </a:xfrm>
          <a:custGeom>
            <a:avLst/>
            <a:gdLst/>
            <a:ahLst/>
            <a:cxnLst/>
            <a:rect r="r" b="b" t="t" l="l"/>
            <a:pathLst>
              <a:path h="890157" w="890157">
                <a:moveTo>
                  <a:pt x="0" y="0"/>
                </a:moveTo>
                <a:lnTo>
                  <a:pt x="890157" y="0"/>
                </a:lnTo>
                <a:lnTo>
                  <a:pt x="890157" y="890157"/>
                </a:lnTo>
                <a:lnTo>
                  <a:pt x="0" y="8901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a:grpSpLocks noChangeAspect="true"/>
          </p:cNvGrpSpPr>
          <p:nvPr/>
        </p:nvGrpSpPr>
        <p:grpSpPr>
          <a:xfrm rot="0">
            <a:off x="16900199" y="9148181"/>
            <a:ext cx="359101" cy="359101"/>
            <a:chOff x="0" y="0"/>
            <a:chExt cx="1708150" cy="1708150"/>
          </a:xfrm>
        </p:grpSpPr>
        <p:sp>
          <p:nvSpPr>
            <p:cNvPr name="Freeform 10" id="10"/>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11" id="11"/>
          <p:cNvGrpSpPr>
            <a:grpSpLocks noChangeAspect="true"/>
          </p:cNvGrpSpPr>
          <p:nvPr/>
        </p:nvGrpSpPr>
        <p:grpSpPr>
          <a:xfrm rot="0">
            <a:off x="16291508" y="9148181"/>
            <a:ext cx="359101" cy="359101"/>
            <a:chOff x="0" y="0"/>
            <a:chExt cx="1708150" cy="1708150"/>
          </a:xfrm>
        </p:grpSpPr>
        <p:sp>
          <p:nvSpPr>
            <p:cNvPr name="Freeform 12" id="12"/>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13" id="13"/>
          <p:cNvGrpSpPr/>
          <p:nvPr/>
        </p:nvGrpSpPr>
        <p:grpSpPr>
          <a:xfrm rot="0">
            <a:off x="15686735" y="9150140"/>
            <a:ext cx="355183" cy="355183"/>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5" id="15"/>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9362227" y="4741007"/>
            <a:ext cx="857512" cy="802846"/>
          </a:xfrm>
          <a:custGeom>
            <a:avLst/>
            <a:gdLst/>
            <a:ahLst/>
            <a:cxnLst/>
            <a:rect r="r" b="b" t="t" l="l"/>
            <a:pathLst>
              <a:path h="802846" w="857512">
                <a:moveTo>
                  <a:pt x="0" y="0"/>
                </a:moveTo>
                <a:lnTo>
                  <a:pt x="857513" y="0"/>
                </a:lnTo>
                <a:lnTo>
                  <a:pt x="857513" y="802845"/>
                </a:lnTo>
                <a:lnTo>
                  <a:pt x="0" y="802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1165496" y="1169455"/>
            <a:ext cx="1064262" cy="1064262"/>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AutoShape 19" id="19"/>
          <p:cNvSpPr/>
          <p:nvPr/>
        </p:nvSpPr>
        <p:spPr>
          <a:xfrm>
            <a:off x="1028700" y="9756394"/>
            <a:ext cx="7737124" cy="0"/>
          </a:xfrm>
          <a:prstGeom prst="line">
            <a:avLst/>
          </a:prstGeom>
          <a:ln cap="flat" w="104775">
            <a:solidFill>
              <a:srgbClr val="FFBD59"/>
            </a:solidFill>
            <a:prstDash val="solid"/>
            <a:headEnd type="none" len="sm" w="sm"/>
            <a:tailEnd type="none" len="sm" w="sm"/>
          </a:ln>
        </p:spPr>
      </p:sp>
      <p:sp>
        <p:nvSpPr>
          <p:cNvPr name="Freeform 20" id="20"/>
          <p:cNvSpPr/>
          <p:nvPr/>
        </p:nvSpPr>
        <p:spPr>
          <a:xfrm flipH="false" flipV="false" rot="0">
            <a:off x="15064799" y="1028700"/>
            <a:ext cx="1431677" cy="1431677"/>
          </a:xfrm>
          <a:custGeom>
            <a:avLst/>
            <a:gdLst/>
            <a:ahLst/>
            <a:cxnLst/>
            <a:rect r="r" b="b" t="t" l="l"/>
            <a:pathLst>
              <a:path h="1431677" w="1431677">
                <a:moveTo>
                  <a:pt x="0" y="0"/>
                </a:moveTo>
                <a:lnTo>
                  <a:pt x="1431677" y="0"/>
                </a:lnTo>
                <a:lnTo>
                  <a:pt x="1431677" y="1431677"/>
                </a:lnTo>
                <a:lnTo>
                  <a:pt x="0" y="14316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1884492" y="7170236"/>
            <a:ext cx="1020970" cy="907387"/>
          </a:xfrm>
          <a:custGeom>
            <a:avLst/>
            <a:gdLst/>
            <a:ahLst/>
            <a:cxnLst/>
            <a:rect r="r" b="b" t="t" l="l"/>
            <a:pathLst>
              <a:path h="907387" w="1020970">
                <a:moveTo>
                  <a:pt x="0" y="0"/>
                </a:moveTo>
                <a:lnTo>
                  <a:pt x="1020970" y="0"/>
                </a:lnTo>
                <a:lnTo>
                  <a:pt x="1020970" y="907387"/>
                </a:lnTo>
                <a:lnTo>
                  <a:pt x="0" y="9073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2" id="22"/>
          <p:cNvSpPr txBox="true"/>
          <p:nvPr/>
        </p:nvSpPr>
        <p:spPr>
          <a:xfrm rot="0">
            <a:off x="1874967" y="2804374"/>
            <a:ext cx="14519016" cy="2943225"/>
          </a:xfrm>
          <a:prstGeom prst="rect">
            <a:avLst/>
          </a:prstGeom>
        </p:spPr>
        <p:txBody>
          <a:bodyPr anchor="t" rtlCol="false" tIns="0" lIns="0" bIns="0" rIns="0">
            <a:spAutoFit/>
          </a:bodyPr>
          <a:lstStyle/>
          <a:p>
            <a:pPr algn="just">
              <a:lnSpc>
                <a:spcPts val="3974"/>
              </a:lnSpc>
            </a:pPr>
            <a:r>
              <a:rPr lang="en-US" sz="2499">
                <a:solidFill>
                  <a:srgbClr val="000000"/>
                </a:solidFill>
                <a:latin typeface="Roboto"/>
                <a:ea typeface="Roboto"/>
                <a:cs typeface="Roboto"/>
                <a:sym typeface="Roboto"/>
              </a:rPr>
              <a:t>L'intégr</a:t>
            </a:r>
            <a:r>
              <a:rPr lang="en-US" sz="2499">
                <a:solidFill>
                  <a:srgbClr val="000000"/>
                </a:solidFill>
                <a:latin typeface="Roboto"/>
                <a:ea typeface="Roboto"/>
                <a:cs typeface="Roboto"/>
                <a:sym typeface="Roboto"/>
              </a:rPr>
              <a:t>ation continue est un ensemble de pratiques qui permettent de s'assurer que les nouvelles fonctionnalités qu'on intègre à une application en cours de développement ne rendent pas non fonctionne le code déjà existant. C'est l'un des fondamentaux du développement logiciel moderne, elle change radicalement la manière dont les équipes pensent le processus de développement. Elle permet d'induire toute une série d'améliorations et de transformations, depuis la construction automatisée de l'application jusqu'à la livraison continue en production. </a:t>
            </a:r>
          </a:p>
        </p:txBody>
      </p:sp>
      <p:sp>
        <p:nvSpPr>
          <p:cNvPr name="TextBox 23" id="23"/>
          <p:cNvSpPr txBox="true"/>
          <p:nvPr/>
        </p:nvSpPr>
        <p:spPr>
          <a:xfrm rot="0">
            <a:off x="1361520" y="1163555"/>
            <a:ext cx="868238" cy="964475"/>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1</a:t>
            </a:r>
          </a:p>
        </p:txBody>
      </p:sp>
      <p:sp>
        <p:nvSpPr>
          <p:cNvPr name="TextBox 24" id="24"/>
          <p:cNvSpPr txBox="true"/>
          <p:nvPr/>
        </p:nvSpPr>
        <p:spPr>
          <a:xfrm rot="0">
            <a:off x="2611243" y="1213301"/>
            <a:ext cx="6212398" cy="962280"/>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In</a:t>
            </a:r>
            <a:r>
              <a:rPr lang="en-US" b="true" sz="3106">
                <a:solidFill>
                  <a:srgbClr val="000000"/>
                </a:solidFill>
                <a:latin typeface="Roboto Bold"/>
                <a:ea typeface="Roboto Bold"/>
                <a:cs typeface="Roboto Bold"/>
                <a:sym typeface="Roboto Bold"/>
              </a:rPr>
              <a:t>troduction à l’intégration continue</a:t>
            </a:r>
          </a:p>
        </p:txBody>
      </p:sp>
      <p:sp>
        <p:nvSpPr>
          <p:cNvPr name="TextBox 25" id="25"/>
          <p:cNvSpPr txBox="true"/>
          <p:nvPr/>
        </p:nvSpPr>
        <p:spPr>
          <a:xfrm rot="0">
            <a:off x="3418463" y="6713341"/>
            <a:ext cx="12985044" cy="1986749"/>
          </a:xfrm>
          <a:prstGeom prst="rect">
            <a:avLst/>
          </a:prstGeom>
        </p:spPr>
        <p:txBody>
          <a:bodyPr anchor="t" rtlCol="false" tIns="0" lIns="0" bIns="0" rIns="0">
            <a:spAutoFit/>
          </a:bodyPr>
          <a:lstStyle/>
          <a:p>
            <a:pPr algn="just">
              <a:lnSpc>
                <a:spcPts val="3180"/>
              </a:lnSpc>
            </a:pPr>
            <a:r>
              <a:rPr lang="en-US" sz="2000" i="true">
                <a:solidFill>
                  <a:srgbClr val="000000"/>
                </a:solidFill>
                <a:latin typeface="Roboto Italics"/>
                <a:ea typeface="Roboto Italics"/>
                <a:cs typeface="Roboto Italics"/>
                <a:sym typeface="Roboto Italics"/>
              </a:rPr>
              <a:t>Orl</a:t>
            </a:r>
            <a:r>
              <a:rPr lang="en-US" sz="2000" i="true">
                <a:solidFill>
                  <a:srgbClr val="000000"/>
                </a:solidFill>
                <a:latin typeface="Roboto Italics"/>
                <a:ea typeface="Roboto Italics"/>
                <a:cs typeface="Roboto Italics"/>
                <a:sym typeface="Roboto Italics"/>
              </a:rPr>
              <a:t>og et son équipe de développeurs travaillent sur de nouvelles fonctionnalités pour le site web de l’université de Lomé. Chacun des développeurs a travaillé sur des branches séparées durant la semaine écoulée. Maintenant, ils sont tous confiants dans leur code et prêts à fusionner leurs modifications. </a:t>
            </a:r>
          </a:p>
          <a:p>
            <a:pPr algn="just">
              <a:lnSpc>
                <a:spcPts val="3180"/>
              </a:lnSpc>
            </a:pPr>
            <a:r>
              <a:rPr lang="en-US" sz="2000" i="true">
                <a:solidFill>
                  <a:srgbClr val="000000"/>
                </a:solidFill>
                <a:latin typeface="Roboto Italics"/>
                <a:ea typeface="Roboto Italics"/>
                <a:cs typeface="Roboto Italics"/>
                <a:sym typeface="Roboto Italics"/>
              </a:rPr>
              <a:t>Ils lancent le processus de fusion… et voient leur console se remplir de conflits ! </a:t>
            </a:r>
          </a:p>
          <a:p>
            <a:pPr algn="just">
              <a:lnSpc>
                <a:spcPts val="3180"/>
              </a:lnSpc>
            </a:pPr>
            <a:r>
              <a:rPr lang="en-US" sz="2000" i="true">
                <a:solidFill>
                  <a:srgbClr val="000000"/>
                </a:solidFill>
                <a:latin typeface="Roboto Italics"/>
                <a:ea typeface="Roboto Italics"/>
                <a:cs typeface="Roboto Italics"/>
                <a:sym typeface="Roboto Italics"/>
              </a:rPr>
              <a:t>Orlog pousse un soupir : il avait des projets pour ce week-end. </a:t>
            </a:r>
          </a:p>
        </p:txBody>
      </p:sp>
      <p:sp>
        <p:nvSpPr>
          <p:cNvPr name="TextBox 26" id="26"/>
          <p:cNvSpPr txBox="true"/>
          <p:nvPr/>
        </p:nvSpPr>
        <p:spPr>
          <a:xfrm rot="0">
            <a:off x="1795639" y="6177321"/>
            <a:ext cx="4483917" cy="349922"/>
          </a:xfrm>
          <a:prstGeom prst="rect">
            <a:avLst/>
          </a:prstGeom>
        </p:spPr>
        <p:txBody>
          <a:bodyPr anchor="t" rtlCol="false" tIns="0" lIns="0" bIns="0" rIns="0">
            <a:spAutoFit/>
          </a:bodyPr>
          <a:lstStyle/>
          <a:p>
            <a:pPr algn="l">
              <a:lnSpc>
                <a:spcPts val="2690"/>
              </a:lnSpc>
            </a:pPr>
            <a:r>
              <a:rPr lang="en-US" b="true" sz="2241">
                <a:solidFill>
                  <a:srgbClr val="000000"/>
                </a:solidFill>
                <a:latin typeface="Roboto Bold"/>
                <a:ea typeface="Roboto Bold"/>
                <a:cs typeface="Roboto Bold"/>
                <a:sym typeface="Roboto Bold"/>
              </a:rPr>
              <a:t>Illustration</a:t>
            </a:r>
          </a:p>
        </p:txBody>
      </p:sp>
      <p:sp>
        <p:nvSpPr>
          <p:cNvPr name="TextBox 27" id="2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4</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165496" y="1169455"/>
            <a:ext cx="1064262" cy="1064262"/>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AutoShape 13" id="13"/>
          <p:cNvSpPr/>
          <p:nvPr/>
        </p:nvSpPr>
        <p:spPr>
          <a:xfrm>
            <a:off x="1028700" y="9756394"/>
            <a:ext cx="7737124" cy="0"/>
          </a:xfrm>
          <a:prstGeom prst="line">
            <a:avLst/>
          </a:prstGeom>
          <a:ln cap="flat" w="104775">
            <a:solidFill>
              <a:srgbClr val="FFBD59"/>
            </a:solidFill>
            <a:prstDash val="solid"/>
            <a:headEnd type="none" len="sm" w="sm"/>
            <a:tailEnd type="none" len="sm" w="sm"/>
          </a:ln>
        </p:spPr>
      </p:sp>
      <p:sp>
        <p:nvSpPr>
          <p:cNvPr name="Freeform 14" id="14"/>
          <p:cNvSpPr/>
          <p:nvPr/>
        </p:nvSpPr>
        <p:spPr>
          <a:xfrm flipH="false" flipV="false" rot="0">
            <a:off x="8586274" y="3377978"/>
            <a:ext cx="8493476" cy="3929156"/>
          </a:xfrm>
          <a:custGeom>
            <a:avLst/>
            <a:gdLst/>
            <a:ahLst/>
            <a:cxnLst/>
            <a:rect r="r" b="b" t="t" l="l"/>
            <a:pathLst>
              <a:path h="3929156" w="8493476">
                <a:moveTo>
                  <a:pt x="0" y="0"/>
                </a:moveTo>
                <a:lnTo>
                  <a:pt x="8493476" y="0"/>
                </a:lnTo>
                <a:lnTo>
                  <a:pt x="8493476" y="3929156"/>
                </a:lnTo>
                <a:lnTo>
                  <a:pt x="0" y="3929156"/>
                </a:lnTo>
                <a:lnTo>
                  <a:pt x="0" y="0"/>
                </a:lnTo>
                <a:close/>
              </a:path>
            </a:pathLst>
          </a:custGeom>
          <a:blipFill>
            <a:blip r:embed="rId4"/>
            <a:stretch>
              <a:fillRect l="0" t="-13486" r="0" b="0"/>
            </a:stretch>
          </a:blipFill>
        </p:spPr>
      </p:sp>
      <p:sp>
        <p:nvSpPr>
          <p:cNvPr name="TextBox 15" id="15"/>
          <p:cNvSpPr txBox="true"/>
          <p:nvPr/>
        </p:nvSpPr>
        <p:spPr>
          <a:xfrm rot="0">
            <a:off x="1518076" y="3113706"/>
            <a:ext cx="6458007" cy="4457700"/>
          </a:xfrm>
          <a:prstGeom prst="rect">
            <a:avLst/>
          </a:prstGeom>
        </p:spPr>
        <p:txBody>
          <a:bodyPr anchor="t" rtlCol="false" tIns="0" lIns="0" bIns="0" rIns="0">
            <a:spAutoFit/>
          </a:bodyPr>
          <a:lstStyle/>
          <a:p>
            <a:pPr algn="l">
              <a:lnSpc>
                <a:spcPts val="2999"/>
              </a:lnSpc>
            </a:pPr>
            <a:r>
              <a:rPr lang="en-US" sz="2499">
                <a:solidFill>
                  <a:srgbClr val="000000"/>
                </a:solidFill>
                <a:latin typeface="Roboto"/>
                <a:ea typeface="Roboto"/>
                <a:cs typeface="Roboto"/>
                <a:sym typeface="Roboto"/>
              </a:rPr>
              <a:t>L’intég</a:t>
            </a:r>
            <a:r>
              <a:rPr lang="en-US" sz="2499">
                <a:solidFill>
                  <a:srgbClr val="000000"/>
                </a:solidFill>
                <a:latin typeface="Roboto"/>
                <a:ea typeface="Roboto"/>
                <a:cs typeface="Roboto"/>
                <a:sym typeface="Roboto"/>
              </a:rPr>
              <a:t>ration continue vise à accélérer le développement des logiciels en automatisant l’intégration du code afin d’éviter les erreurs liées aux fusions tardives des différentes parties du code, développées indépendamment les unes des autres. [1]</a:t>
            </a:r>
          </a:p>
          <a:p>
            <a:pPr algn="l">
              <a:lnSpc>
                <a:spcPts val="2999"/>
              </a:lnSpc>
            </a:pPr>
          </a:p>
          <a:p>
            <a:pPr algn="l">
              <a:lnSpc>
                <a:spcPts val="2999"/>
              </a:lnSpc>
            </a:pPr>
            <a:r>
              <a:rPr lang="en-US" sz="2499">
                <a:solidFill>
                  <a:srgbClr val="000000"/>
                </a:solidFill>
                <a:latin typeface="Roboto"/>
                <a:ea typeface="Roboto"/>
                <a:cs typeface="Roboto"/>
                <a:sym typeface="Roboto"/>
              </a:rPr>
              <a:t>L’objectif de l’intégration continue est de vérifier qu’à chaque modification de code, le build de l’application reste possible et qu’il n’y a pas de régressions provoquées. Pour y parvenir, plusieurs règles sont définies.[1]</a:t>
            </a:r>
          </a:p>
        </p:txBody>
      </p:sp>
      <p:sp>
        <p:nvSpPr>
          <p:cNvPr name="TextBox 16" id="16"/>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2</a:t>
            </a:r>
          </a:p>
        </p:txBody>
      </p:sp>
      <p:sp>
        <p:nvSpPr>
          <p:cNvPr name="TextBox 17" id="17"/>
          <p:cNvSpPr txBox="true"/>
          <p:nvPr/>
        </p:nvSpPr>
        <p:spPr>
          <a:xfrm rot="0">
            <a:off x="2611243" y="1213301"/>
            <a:ext cx="6212398" cy="962280"/>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P</a:t>
            </a:r>
            <a:r>
              <a:rPr lang="en-US" b="true" sz="3106">
                <a:solidFill>
                  <a:srgbClr val="000000"/>
                </a:solidFill>
                <a:latin typeface="Roboto Bold"/>
                <a:ea typeface="Roboto Bold"/>
                <a:cs typeface="Roboto Bold"/>
                <a:sym typeface="Roboto Bold"/>
              </a:rPr>
              <a:t>rincipes fondamentaux de l’intégration continue (CI)</a:t>
            </a:r>
          </a:p>
        </p:txBody>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5</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165496" y="1169455"/>
            <a:ext cx="1064262" cy="1064262"/>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Freeform 13" id="13"/>
          <p:cNvSpPr/>
          <p:nvPr/>
        </p:nvSpPr>
        <p:spPr>
          <a:xfrm flipH="false" flipV="false" rot="0">
            <a:off x="11150026" y="4017261"/>
            <a:ext cx="3441942" cy="3691090"/>
          </a:xfrm>
          <a:custGeom>
            <a:avLst/>
            <a:gdLst/>
            <a:ahLst/>
            <a:cxnLst/>
            <a:rect r="r" b="b" t="t" l="l"/>
            <a:pathLst>
              <a:path h="3691090" w="3441942">
                <a:moveTo>
                  <a:pt x="0" y="0"/>
                </a:moveTo>
                <a:lnTo>
                  <a:pt x="3441941" y="0"/>
                </a:lnTo>
                <a:lnTo>
                  <a:pt x="3441941" y="3691090"/>
                </a:lnTo>
                <a:lnTo>
                  <a:pt x="0" y="3691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2</a:t>
            </a:r>
          </a:p>
        </p:txBody>
      </p:sp>
      <p:sp>
        <p:nvSpPr>
          <p:cNvPr name="TextBox 15" id="15"/>
          <p:cNvSpPr txBox="true"/>
          <p:nvPr/>
        </p:nvSpPr>
        <p:spPr>
          <a:xfrm rot="0">
            <a:off x="2611243" y="1213301"/>
            <a:ext cx="6212398" cy="962280"/>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P</a:t>
            </a:r>
            <a:r>
              <a:rPr lang="en-US" b="true" sz="3106">
                <a:solidFill>
                  <a:srgbClr val="000000"/>
                </a:solidFill>
                <a:latin typeface="Roboto Bold"/>
                <a:ea typeface="Roboto Bold"/>
                <a:cs typeface="Roboto Bold"/>
                <a:sym typeface="Roboto Bold"/>
              </a:rPr>
              <a:t>rincipes fondamentaux de l’intégration continue (CI)</a:t>
            </a:r>
          </a:p>
        </p:txBody>
      </p:sp>
      <p:sp>
        <p:nvSpPr>
          <p:cNvPr name="TextBox 16" id="16"/>
          <p:cNvSpPr txBox="true"/>
          <p:nvPr/>
        </p:nvSpPr>
        <p:spPr>
          <a:xfrm rot="0">
            <a:off x="2075243" y="3011520"/>
            <a:ext cx="12516725" cy="371409"/>
          </a:xfrm>
          <a:prstGeom prst="rect">
            <a:avLst/>
          </a:prstGeom>
        </p:spPr>
        <p:txBody>
          <a:bodyPr anchor="t" rtlCol="false" tIns="0" lIns="0" bIns="0" rIns="0">
            <a:spAutoFit/>
          </a:bodyPr>
          <a:lstStyle/>
          <a:p>
            <a:pPr algn="l">
              <a:lnSpc>
                <a:spcPts val="2999"/>
              </a:lnSpc>
            </a:pPr>
            <a:r>
              <a:rPr lang="en-US" sz="2499">
                <a:solidFill>
                  <a:srgbClr val="000000"/>
                </a:solidFill>
                <a:latin typeface="Roboto"/>
                <a:ea typeface="Roboto"/>
                <a:cs typeface="Roboto"/>
                <a:sym typeface="Roboto"/>
              </a:rPr>
              <a:t>L</a:t>
            </a:r>
            <a:r>
              <a:rPr lang="en-US" sz="2499">
                <a:solidFill>
                  <a:srgbClr val="000000"/>
                </a:solidFill>
                <a:latin typeface="Roboto"/>
                <a:ea typeface="Roboto"/>
                <a:cs typeface="Roboto"/>
                <a:sym typeface="Roboto"/>
              </a:rPr>
              <a:t>'Intégration Continue s'appuie principalement sur  :</a:t>
            </a:r>
          </a:p>
        </p:txBody>
      </p:sp>
      <p:grpSp>
        <p:nvGrpSpPr>
          <p:cNvPr name="Group 17" id="17"/>
          <p:cNvGrpSpPr/>
          <p:nvPr/>
        </p:nvGrpSpPr>
        <p:grpSpPr>
          <a:xfrm rot="0">
            <a:off x="3096320" y="4017261"/>
            <a:ext cx="6548451" cy="3338456"/>
            <a:chOff x="0" y="0"/>
            <a:chExt cx="8731268" cy="4451275"/>
          </a:xfrm>
        </p:grpSpPr>
        <p:sp>
          <p:nvSpPr>
            <p:cNvPr name="Freeform 18" id="18"/>
            <p:cNvSpPr/>
            <p:nvPr/>
          </p:nvSpPr>
          <p:spPr>
            <a:xfrm flipH="false" flipV="false" rot="0">
              <a:off x="0" y="0"/>
              <a:ext cx="582335" cy="545277"/>
            </a:xfrm>
            <a:custGeom>
              <a:avLst/>
              <a:gdLst/>
              <a:ahLst/>
              <a:cxnLst/>
              <a:rect r="r" b="b" t="t" l="l"/>
              <a:pathLst>
                <a:path h="545277" w="582335">
                  <a:moveTo>
                    <a:pt x="0" y="0"/>
                  </a:moveTo>
                  <a:lnTo>
                    <a:pt x="582335" y="0"/>
                  </a:lnTo>
                  <a:lnTo>
                    <a:pt x="582335" y="545277"/>
                  </a:lnTo>
                  <a:lnTo>
                    <a:pt x="0" y="5452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1506989" y="25033"/>
              <a:ext cx="7224279" cy="495212"/>
            </a:xfrm>
            <a:prstGeom prst="rect">
              <a:avLst/>
            </a:prstGeom>
          </p:spPr>
          <p:txBody>
            <a:bodyPr anchor="t" rtlCol="false" tIns="0" lIns="0" bIns="0" rIns="0">
              <a:spAutoFit/>
            </a:bodyPr>
            <a:lstStyle/>
            <a:p>
              <a:pPr algn="l">
                <a:lnSpc>
                  <a:spcPts val="2999"/>
                </a:lnSpc>
              </a:pPr>
              <a:r>
                <a:rPr lang="en-US" sz="2499" b="true">
                  <a:solidFill>
                    <a:srgbClr val="000000"/>
                  </a:solidFill>
                  <a:latin typeface="Roboto Bold"/>
                  <a:ea typeface="Roboto Bold"/>
                  <a:cs typeface="Roboto Bold"/>
                  <a:sym typeface="Roboto Bold"/>
                </a:rPr>
                <a:t>Héb</a:t>
              </a:r>
              <a:r>
                <a:rPr lang="en-US" sz="2499" b="true">
                  <a:solidFill>
                    <a:srgbClr val="000000"/>
                  </a:solidFill>
                  <a:latin typeface="Roboto Bold"/>
                  <a:ea typeface="Roboto Bold"/>
                  <a:cs typeface="Roboto Bold"/>
                  <a:sym typeface="Roboto Bold"/>
                </a:rPr>
                <a:t>ergement centralisé du code</a:t>
              </a:r>
            </a:p>
          </p:txBody>
        </p:sp>
        <p:sp>
          <p:nvSpPr>
            <p:cNvPr name="TextBox 20" id="20"/>
            <p:cNvSpPr txBox="true"/>
            <p:nvPr/>
          </p:nvSpPr>
          <p:spPr>
            <a:xfrm rot="0">
              <a:off x="1506989" y="1327032"/>
              <a:ext cx="7224279" cy="495212"/>
            </a:xfrm>
            <a:prstGeom prst="rect">
              <a:avLst/>
            </a:prstGeom>
          </p:spPr>
          <p:txBody>
            <a:bodyPr anchor="t" rtlCol="false" tIns="0" lIns="0" bIns="0" rIns="0">
              <a:spAutoFit/>
            </a:bodyPr>
            <a:lstStyle/>
            <a:p>
              <a:pPr algn="l">
                <a:lnSpc>
                  <a:spcPts val="2999"/>
                </a:lnSpc>
              </a:pPr>
              <a:r>
                <a:rPr lang="en-US" sz="2499" b="true">
                  <a:solidFill>
                    <a:srgbClr val="000000"/>
                  </a:solidFill>
                  <a:latin typeface="Roboto Bold"/>
                  <a:ea typeface="Roboto Bold"/>
                  <a:cs typeface="Roboto Bold"/>
                  <a:sym typeface="Roboto Bold"/>
                </a:rPr>
                <a:t>Commits fréquents et incrémentaux</a:t>
              </a:r>
            </a:p>
          </p:txBody>
        </p:sp>
        <p:sp>
          <p:nvSpPr>
            <p:cNvPr name="TextBox 21" id="21"/>
            <p:cNvSpPr txBox="true"/>
            <p:nvPr/>
          </p:nvSpPr>
          <p:spPr>
            <a:xfrm rot="0">
              <a:off x="1506989" y="2629031"/>
              <a:ext cx="7224279" cy="495212"/>
            </a:xfrm>
            <a:prstGeom prst="rect">
              <a:avLst/>
            </a:prstGeom>
          </p:spPr>
          <p:txBody>
            <a:bodyPr anchor="t" rtlCol="false" tIns="0" lIns="0" bIns="0" rIns="0">
              <a:spAutoFit/>
            </a:bodyPr>
            <a:lstStyle/>
            <a:p>
              <a:pPr algn="l">
                <a:lnSpc>
                  <a:spcPts val="2999"/>
                </a:lnSpc>
              </a:pPr>
              <a:r>
                <a:rPr lang="en-US" sz="2499" b="true">
                  <a:solidFill>
                    <a:srgbClr val="000000"/>
                  </a:solidFill>
                  <a:latin typeface="Roboto Bold"/>
                  <a:ea typeface="Roboto Bold"/>
                  <a:cs typeface="Roboto Bold"/>
                  <a:sym typeface="Roboto Bold"/>
                </a:rPr>
                <a:t>Automatisation des builds</a:t>
              </a:r>
            </a:p>
          </p:txBody>
        </p:sp>
        <p:sp>
          <p:nvSpPr>
            <p:cNvPr name="TextBox 22" id="22"/>
            <p:cNvSpPr txBox="true"/>
            <p:nvPr/>
          </p:nvSpPr>
          <p:spPr>
            <a:xfrm rot="0">
              <a:off x="1506989" y="3956063"/>
              <a:ext cx="7224279" cy="495212"/>
            </a:xfrm>
            <a:prstGeom prst="rect">
              <a:avLst/>
            </a:prstGeom>
          </p:spPr>
          <p:txBody>
            <a:bodyPr anchor="t" rtlCol="false" tIns="0" lIns="0" bIns="0" rIns="0">
              <a:spAutoFit/>
            </a:bodyPr>
            <a:lstStyle/>
            <a:p>
              <a:pPr algn="l">
                <a:lnSpc>
                  <a:spcPts val="2999"/>
                </a:lnSpc>
              </a:pPr>
              <a:r>
                <a:rPr lang="en-US" sz="2499" b="true">
                  <a:solidFill>
                    <a:srgbClr val="000000"/>
                  </a:solidFill>
                  <a:latin typeface="Roboto Bold"/>
                  <a:ea typeface="Roboto Bold"/>
                  <a:cs typeface="Roboto Bold"/>
                  <a:sym typeface="Roboto Bold"/>
                </a:rPr>
                <a:t>Exéc</a:t>
              </a:r>
              <a:r>
                <a:rPr lang="en-US" sz="2499" b="true">
                  <a:solidFill>
                    <a:srgbClr val="000000"/>
                  </a:solidFill>
                  <a:latin typeface="Roboto Bold"/>
                  <a:ea typeface="Roboto Bold"/>
                  <a:cs typeface="Roboto Bold"/>
                  <a:sym typeface="Roboto Bold"/>
                </a:rPr>
                <a:t>ution automatique des tests </a:t>
              </a:r>
            </a:p>
          </p:txBody>
        </p:sp>
        <p:sp>
          <p:nvSpPr>
            <p:cNvPr name="Freeform 23" id="23"/>
            <p:cNvSpPr/>
            <p:nvPr/>
          </p:nvSpPr>
          <p:spPr>
            <a:xfrm flipH="false" flipV="false" rot="0">
              <a:off x="0" y="1301999"/>
              <a:ext cx="582335" cy="545277"/>
            </a:xfrm>
            <a:custGeom>
              <a:avLst/>
              <a:gdLst/>
              <a:ahLst/>
              <a:cxnLst/>
              <a:rect r="r" b="b" t="t" l="l"/>
              <a:pathLst>
                <a:path h="545277" w="582335">
                  <a:moveTo>
                    <a:pt x="0" y="0"/>
                  </a:moveTo>
                  <a:lnTo>
                    <a:pt x="582335" y="0"/>
                  </a:lnTo>
                  <a:lnTo>
                    <a:pt x="582335" y="545277"/>
                  </a:lnTo>
                  <a:lnTo>
                    <a:pt x="0" y="5452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0">
              <a:off x="0" y="2603998"/>
              <a:ext cx="582335" cy="545277"/>
            </a:xfrm>
            <a:custGeom>
              <a:avLst/>
              <a:gdLst/>
              <a:ahLst/>
              <a:cxnLst/>
              <a:rect r="r" b="b" t="t" l="l"/>
              <a:pathLst>
                <a:path h="545277" w="582335">
                  <a:moveTo>
                    <a:pt x="0" y="0"/>
                  </a:moveTo>
                  <a:lnTo>
                    <a:pt x="582335" y="0"/>
                  </a:lnTo>
                  <a:lnTo>
                    <a:pt x="582335" y="545277"/>
                  </a:lnTo>
                  <a:lnTo>
                    <a:pt x="0" y="5452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0" y="3905998"/>
              <a:ext cx="582335" cy="545277"/>
            </a:xfrm>
            <a:custGeom>
              <a:avLst/>
              <a:gdLst/>
              <a:ahLst/>
              <a:cxnLst/>
              <a:rect r="r" b="b" t="t" l="l"/>
              <a:pathLst>
                <a:path h="545277" w="582335">
                  <a:moveTo>
                    <a:pt x="0" y="0"/>
                  </a:moveTo>
                  <a:lnTo>
                    <a:pt x="582335" y="0"/>
                  </a:lnTo>
                  <a:lnTo>
                    <a:pt x="582335" y="545277"/>
                  </a:lnTo>
                  <a:lnTo>
                    <a:pt x="0" y="5452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AutoShape 26" id="26"/>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TextBox 27" id="2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6</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165496" y="1169455"/>
            <a:ext cx="1064262" cy="1064262"/>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Freeform 13" id="13"/>
          <p:cNvSpPr/>
          <p:nvPr/>
        </p:nvSpPr>
        <p:spPr>
          <a:xfrm flipH="false" flipV="false" rot="0">
            <a:off x="6487497" y="2693275"/>
            <a:ext cx="6781124" cy="5854387"/>
          </a:xfrm>
          <a:custGeom>
            <a:avLst/>
            <a:gdLst/>
            <a:ahLst/>
            <a:cxnLst/>
            <a:rect r="r" b="b" t="t" l="l"/>
            <a:pathLst>
              <a:path h="5854387" w="6781124">
                <a:moveTo>
                  <a:pt x="0" y="0"/>
                </a:moveTo>
                <a:lnTo>
                  <a:pt x="6781124" y="0"/>
                </a:lnTo>
                <a:lnTo>
                  <a:pt x="6781124" y="5854387"/>
                </a:lnTo>
                <a:lnTo>
                  <a:pt x="0" y="5854387"/>
                </a:lnTo>
                <a:lnTo>
                  <a:pt x="0" y="0"/>
                </a:lnTo>
                <a:close/>
              </a:path>
            </a:pathLst>
          </a:custGeom>
          <a:blipFill>
            <a:blip r:embed="rId4">
              <a:alphaModFix amt="24000"/>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361520" y="1163555"/>
            <a:ext cx="868238" cy="964475"/>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3</a:t>
            </a:r>
          </a:p>
        </p:txBody>
      </p:sp>
      <p:sp>
        <p:nvSpPr>
          <p:cNvPr name="TextBox 15" id="15"/>
          <p:cNvSpPr txBox="true"/>
          <p:nvPr/>
        </p:nvSpPr>
        <p:spPr>
          <a:xfrm rot="0">
            <a:off x="2611243" y="1213301"/>
            <a:ext cx="6212398" cy="962280"/>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L</a:t>
            </a:r>
            <a:r>
              <a:rPr lang="en-US" b="true" sz="3106">
                <a:solidFill>
                  <a:srgbClr val="000000"/>
                </a:solidFill>
                <a:latin typeface="Roboto Bold"/>
                <a:ea typeface="Roboto Bold"/>
                <a:cs typeface="Roboto Bold"/>
                <a:sym typeface="Roboto Bold"/>
              </a:rPr>
              <a:t>es avantages de l’Intégration Continue</a:t>
            </a:r>
          </a:p>
        </p:txBody>
      </p:sp>
      <p:grpSp>
        <p:nvGrpSpPr>
          <p:cNvPr name="Group 16" id="16"/>
          <p:cNvGrpSpPr/>
          <p:nvPr/>
        </p:nvGrpSpPr>
        <p:grpSpPr>
          <a:xfrm rot="0">
            <a:off x="2697785" y="2909806"/>
            <a:ext cx="13952824" cy="5193178"/>
            <a:chOff x="0" y="0"/>
            <a:chExt cx="18603766" cy="6924238"/>
          </a:xfrm>
        </p:grpSpPr>
        <p:sp>
          <p:nvSpPr>
            <p:cNvPr name="Freeform 17" id="17"/>
            <p:cNvSpPr/>
            <p:nvPr/>
          </p:nvSpPr>
          <p:spPr>
            <a:xfrm flipH="false" flipV="false" rot="0">
              <a:off x="130683" y="1425108"/>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30683" y="2567692"/>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921191" y="1415583"/>
              <a:ext cx="6339748" cy="444104"/>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Gain d</a:t>
              </a:r>
              <a:r>
                <a:rPr lang="en-US" sz="2193" b="true">
                  <a:solidFill>
                    <a:srgbClr val="000000"/>
                  </a:solidFill>
                  <a:latin typeface="Quicksand Bold"/>
                  <a:ea typeface="Quicksand Bold"/>
                  <a:cs typeface="Quicksand Bold"/>
                  <a:sym typeface="Quicksand Bold"/>
                </a:rPr>
                <a:t>e temps et efficacité accrue</a:t>
              </a:r>
            </a:p>
          </p:txBody>
        </p:sp>
        <p:sp>
          <p:nvSpPr>
            <p:cNvPr name="TextBox 20" id="20"/>
            <p:cNvSpPr txBox="true"/>
            <p:nvPr/>
          </p:nvSpPr>
          <p:spPr>
            <a:xfrm rot="0">
              <a:off x="921191" y="2340877"/>
              <a:ext cx="6339748" cy="878682"/>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Livrais</a:t>
              </a:r>
              <a:r>
                <a:rPr lang="en-US" sz="2193" b="true">
                  <a:solidFill>
                    <a:srgbClr val="000000"/>
                  </a:solidFill>
                  <a:latin typeface="Quicksand Bold"/>
                  <a:ea typeface="Quicksand Bold"/>
                  <a:cs typeface="Quicksand Bold"/>
                  <a:sym typeface="Quicksand Bold"/>
                </a:rPr>
                <a:t>on plus fréquente et plus fiable</a:t>
              </a:r>
            </a:p>
          </p:txBody>
        </p:sp>
        <p:sp>
          <p:nvSpPr>
            <p:cNvPr name="TextBox 21" id="21"/>
            <p:cNvSpPr txBox="true"/>
            <p:nvPr/>
          </p:nvSpPr>
          <p:spPr>
            <a:xfrm rot="0">
              <a:off x="130683" y="-19050"/>
              <a:ext cx="7500578" cy="999658"/>
            </a:xfrm>
            <a:prstGeom prst="rect">
              <a:avLst/>
            </a:prstGeom>
          </p:spPr>
          <p:txBody>
            <a:bodyPr anchor="t" rtlCol="false" tIns="0" lIns="0" bIns="0" rIns="0">
              <a:spAutoFit/>
            </a:bodyPr>
            <a:lstStyle/>
            <a:p>
              <a:pPr algn="l">
                <a:lnSpc>
                  <a:spcPts val="2948"/>
                </a:lnSpc>
              </a:pPr>
              <a:r>
                <a:rPr lang="en-US" b="true" sz="2457">
                  <a:solidFill>
                    <a:srgbClr val="000000"/>
                  </a:solidFill>
                  <a:latin typeface="Roboto Bold"/>
                  <a:ea typeface="Roboto Bold"/>
                  <a:cs typeface="Roboto Bold"/>
                  <a:sym typeface="Roboto Bold"/>
                </a:rPr>
                <a:t>Opt</a:t>
              </a:r>
              <a:r>
                <a:rPr lang="en-US" b="true" sz="2457">
                  <a:solidFill>
                    <a:srgbClr val="000000"/>
                  </a:solidFill>
                  <a:latin typeface="Roboto Bold"/>
                  <a:ea typeface="Roboto Bold"/>
                  <a:cs typeface="Roboto Bold"/>
                  <a:sym typeface="Roboto Bold"/>
                </a:rPr>
                <a:t>imisation des cycles de développement</a:t>
              </a:r>
            </a:p>
          </p:txBody>
        </p:sp>
        <p:sp>
          <p:nvSpPr>
            <p:cNvPr name="Freeform 22" id="22"/>
            <p:cNvSpPr/>
            <p:nvPr/>
          </p:nvSpPr>
          <p:spPr>
            <a:xfrm flipH="false" flipV="false" rot="0">
              <a:off x="130683" y="5107818"/>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130683" y="6445724"/>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921191" y="4881004"/>
              <a:ext cx="6339748" cy="878682"/>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T</a:t>
              </a:r>
              <a:r>
                <a:rPr lang="en-US" sz="2193" b="true">
                  <a:solidFill>
                    <a:srgbClr val="000000"/>
                  </a:solidFill>
                  <a:latin typeface="Quicksand Bold"/>
                  <a:ea typeface="Quicksand Bold"/>
                  <a:cs typeface="Quicksand Bold"/>
                  <a:sym typeface="Quicksand Bold"/>
                </a:rPr>
                <a:t>ests automatisés à chaque modification</a:t>
              </a:r>
            </a:p>
          </p:txBody>
        </p:sp>
        <p:sp>
          <p:nvSpPr>
            <p:cNvPr name="TextBox 25" id="25"/>
            <p:cNvSpPr txBox="true"/>
            <p:nvPr/>
          </p:nvSpPr>
          <p:spPr>
            <a:xfrm rot="0">
              <a:off x="921191" y="6436199"/>
              <a:ext cx="6339748" cy="444104"/>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Suivi c</a:t>
              </a:r>
              <a:r>
                <a:rPr lang="en-US" sz="2193" b="true">
                  <a:solidFill>
                    <a:srgbClr val="000000"/>
                  </a:solidFill>
                  <a:latin typeface="Quicksand Bold"/>
                  <a:ea typeface="Quicksand Bold"/>
                  <a:cs typeface="Quicksand Bold"/>
                  <a:sym typeface="Quicksand Bold"/>
                </a:rPr>
                <a:t>onstant de l’état du code</a:t>
              </a:r>
            </a:p>
          </p:txBody>
        </p:sp>
        <p:sp>
          <p:nvSpPr>
            <p:cNvPr name="TextBox 26" id="26"/>
            <p:cNvSpPr txBox="true"/>
            <p:nvPr/>
          </p:nvSpPr>
          <p:spPr>
            <a:xfrm rot="0">
              <a:off x="0" y="4014685"/>
              <a:ext cx="7631261" cy="509354"/>
            </a:xfrm>
            <a:prstGeom prst="rect">
              <a:avLst/>
            </a:prstGeom>
          </p:spPr>
          <p:txBody>
            <a:bodyPr anchor="t" rtlCol="false" tIns="0" lIns="0" bIns="0" rIns="0">
              <a:spAutoFit/>
            </a:bodyPr>
            <a:lstStyle/>
            <a:p>
              <a:pPr algn="l">
                <a:lnSpc>
                  <a:spcPts val="2948"/>
                </a:lnSpc>
              </a:pPr>
              <a:r>
                <a:rPr lang="en-US" b="true" sz="2457">
                  <a:solidFill>
                    <a:srgbClr val="000000"/>
                  </a:solidFill>
                  <a:latin typeface="Roboto Bold"/>
                  <a:ea typeface="Roboto Bold"/>
                  <a:cs typeface="Roboto Bold"/>
                  <a:sym typeface="Roboto Bold"/>
                </a:rPr>
                <a:t>A</a:t>
              </a:r>
              <a:r>
                <a:rPr lang="en-US" b="true" sz="2457">
                  <a:solidFill>
                    <a:srgbClr val="000000"/>
                  </a:solidFill>
                  <a:latin typeface="Roboto Bold"/>
                  <a:ea typeface="Roboto Bold"/>
                  <a:cs typeface="Roboto Bold"/>
                  <a:sym typeface="Roboto Bold"/>
                </a:rPr>
                <a:t>mélioration de la qualité du code</a:t>
              </a:r>
            </a:p>
          </p:txBody>
        </p:sp>
        <p:sp>
          <p:nvSpPr>
            <p:cNvPr name="Freeform 27" id="27"/>
            <p:cNvSpPr/>
            <p:nvPr/>
          </p:nvSpPr>
          <p:spPr>
            <a:xfrm flipH="false" flipV="false" rot="0">
              <a:off x="10901083" y="5147729"/>
              <a:ext cx="511034" cy="478514"/>
            </a:xfrm>
            <a:custGeom>
              <a:avLst/>
              <a:gdLst/>
              <a:ahLst/>
              <a:cxnLst/>
              <a:rect r="r" b="b" t="t" l="l"/>
              <a:pathLst>
                <a:path h="478514" w="511034">
                  <a:moveTo>
                    <a:pt x="0" y="0"/>
                  </a:moveTo>
                  <a:lnTo>
                    <a:pt x="511035" y="0"/>
                  </a:lnTo>
                  <a:lnTo>
                    <a:pt x="511035" y="478514"/>
                  </a:lnTo>
                  <a:lnTo>
                    <a:pt x="0" y="478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8" id="28"/>
            <p:cNvSpPr txBox="true"/>
            <p:nvPr/>
          </p:nvSpPr>
          <p:spPr>
            <a:xfrm rot="0">
              <a:off x="11691592" y="4920914"/>
              <a:ext cx="6339748" cy="878682"/>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Réduction du</a:t>
              </a:r>
              <a:r>
                <a:rPr lang="en-US" sz="2193" b="true">
                  <a:solidFill>
                    <a:srgbClr val="000000"/>
                  </a:solidFill>
                  <a:latin typeface="Quicksand Bold"/>
                  <a:ea typeface="Quicksand Bold"/>
                  <a:cs typeface="Quicksand Bold"/>
                  <a:sym typeface="Quicksand Bold"/>
                </a:rPr>
                <a:t> temps de détection des bugs</a:t>
              </a:r>
            </a:p>
          </p:txBody>
        </p:sp>
        <p:sp>
          <p:nvSpPr>
            <p:cNvPr name="TextBox 29" id="29"/>
            <p:cNvSpPr txBox="true"/>
            <p:nvPr/>
          </p:nvSpPr>
          <p:spPr>
            <a:xfrm rot="0">
              <a:off x="11103187" y="4014685"/>
              <a:ext cx="7500578" cy="509354"/>
            </a:xfrm>
            <a:prstGeom prst="rect">
              <a:avLst/>
            </a:prstGeom>
          </p:spPr>
          <p:txBody>
            <a:bodyPr anchor="t" rtlCol="false" tIns="0" lIns="0" bIns="0" rIns="0">
              <a:spAutoFit/>
            </a:bodyPr>
            <a:lstStyle/>
            <a:p>
              <a:pPr algn="l">
                <a:lnSpc>
                  <a:spcPts val="2948"/>
                </a:lnSpc>
              </a:pPr>
              <a:r>
                <a:rPr lang="en-US" b="true" sz="2457">
                  <a:solidFill>
                    <a:srgbClr val="000000"/>
                  </a:solidFill>
                  <a:latin typeface="Roboto Bold"/>
                  <a:ea typeface="Roboto Bold"/>
                  <a:cs typeface="Roboto Bold"/>
                  <a:sym typeface="Roboto Bold"/>
                </a:rPr>
                <a:t>Détec</a:t>
              </a:r>
              <a:r>
                <a:rPr lang="en-US" b="true" sz="2457">
                  <a:solidFill>
                    <a:srgbClr val="000000"/>
                  </a:solidFill>
                  <a:latin typeface="Roboto Bold"/>
                  <a:ea typeface="Roboto Bold"/>
                  <a:cs typeface="Roboto Bold"/>
                  <a:sym typeface="Roboto Bold"/>
                </a:rPr>
                <a:t>tion rapide des erreurs</a:t>
              </a:r>
            </a:p>
          </p:txBody>
        </p:sp>
        <p:sp>
          <p:nvSpPr>
            <p:cNvPr name="Freeform 30" id="30"/>
            <p:cNvSpPr/>
            <p:nvPr/>
          </p:nvSpPr>
          <p:spPr>
            <a:xfrm flipH="false" flipV="false" rot="0">
              <a:off x="11045835" y="2084151"/>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1" id="31"/>
            <p:cNvSpPr txBox="true"/>
            <p:nvPr/>
          </p:nvSpPr>
          <p:spPr>
            <a:xfrm rot="0">
              <a:off x="11836343" y="1857337"/>
              <a:ext cx="6339748" cy="878682"/>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M</a:t>
              </a:r>
              <a:r>
                <a:rPr lang="en-US" sz="2193" b="true">
                  <a:solidFill>
                    <a:srgbClr val="000000"/>
                  </a:solidFill>
                  <a:latin typeface="Quicksand Bold"/>
                  <a:ea typeface="Quicksand Bold"/>
                  <a:cs typeface="Quicksand Bold"/>
                  <a:sym typeface="Quicksand Bold"/>
                </a:rPr>
                <a:t>ises à jour fréquentes et qualitatives</a:t>
              </a:r>
            </a:p>
          </p:txBody>
        </p:sp>
        <p:sp>
          <p:nvSpPr>
            <p:cNvPr name="TextBox 32" id="32"/>
            <p:cNvSpPr txBox="true"/>
            <p:nvPr/>
          </p:nvSpPr>
          <p:spPr>
            <a:xfrm rot="0">
              <a:off x="10972504" y="464491"/>
              <a:ext cx="7631261" cy="999658"/>
            </a:xfrm>
            <a:prstGeom prst="rect">
              <a:avLst/>
            </a:prstGeom>
          </p:spPr>
          <p:txBody>
            <a:bodyPr anchor="t" rtlCol="false" tIns="0" lIns="0" bIns="0" rIns="0">
              <a:spAutoFit/>
            </a:bodyPr>
            <a:lstStyle/>
            <a:p>
              <a:pPr algn="l">
                <a:lnSpc>
                  <a:spcPts val="2948"/>
                </a:lnSpc>
              </a:pPr>
              <a:r>
                <a:rPr lang="en-US" b="true" sz="2457">
                  <a:solidFill>
                    <a:srgbClr val="000000"/>
                  </a:solidFill>
                  <a:latin typeface="Roboto Bold"/>
                  <a:ea typeface="Roboto Bold"/>
                  <a:cs typeface="Roboto Bold"/>
                  <a:sym typeface="Roboto Bold"/>
                </a:rPr>
                <a:t>A</a:t>
              </a:r>
              <a:r>
                <a:rPr lang="en-US" b="true" sz="2457">
                  <a:solidFill>
                    <a:srgbClr val="000000"/>
                  </a:solidFill>
                  <a:latin typeface="Roboto Bold"/>
                  <a:ea typeface="Roboto Bold"/>
                  <a:cs typeface="Roboto Bold"/>
                  <a:sym typeface="Roboto Bold"/>
                </a:rPr>
                <a:t>mélioration indirecte du référencement web</a:t>
              </a:r>
            </a:p>
          </p:txBody>
        </p:sp>
      </p:grpSp>
      <p:sp>
        <p:nvSpPr>
          <p:cNvPr name="AutoShape 33" id="33"/>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TextBox 34" id="3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7</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6900199" y="9148181"/>
            <a:ext cx="359101" cy="359101"/>
            <a:chOff x="0" y="0"/>
            <a:chExt cx="1708150" cy="1708150"/>
          </a:xfrm>
        </p:grpSpPr>
        <p:sp>
          <p:nvSpPr>
            <p:cNvPr name="Freeform 3" id="3"/>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4" id="4"/>
          <p:cNvGrpSpPr>
            <a:grpSpLocks noChangeAspect="true"/>
          </p:cNvGrpSpPr>
          <p:nvPr/>
        </p:nvGrpSpPr>
        <p:grpSpPr>
          <a:xfrm rot="0">
            <a:off x="16291508"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p:nvPr/>
        </p:nvGrpSpPr>
        <p:grpSpPr>
          <a:xfrm rot="0">
            <a:off x="15686735" y="9150140"/>
            <a:ext cx="355183" cy="355183"/>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8" id="8" descr="Menu "/>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9" id="9"/>
          <p:cNvSpPr/>
          <p:nvPr/>
        </p:nvSpPr>
        <p:spPr>
          <a:xfrm>
            <a:off x="1022026" y="9756394"/>
            <a:ext cx="7737124" cy="0"/>
          </a:xfrm>
          <a:prstGeom prst="line">
            <a:avLst/>
          </a:prstGeom>
          <a:ln cap="flat" w="104775">
            <a:solidFill>
              <a:srgbClr val="FFBD59"/>
            </a:solidFill>
            <a:prstDash val="solid"/>
            <a:headEnd type="none" len="sm" w="sm"/>
            <a:tailEnd type="none" len="sm" w="sm"/>
          </a:ln>
        </p:spPr>
      </p:sp>
      <p:grpSp>
        <p:nvGrpSpPr>
          <p:cNvPr name="Group 10" id="10"/>
          <p:cNvGrpSpPr/>
          <p:nvPr/>
        </p:nvGrpSpPr>
        <p:grpSpPr>
          <a:xfrm rot="0">
            <a:off x="1022026" y="1025985"/>
            <a:ext cx="1351202" cy="1351202"/>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12" id="12"/>
          <p:cNvGrpSpPr/>
          <p:nvPr/>
        </p:nvGrpSpPr>
        <p:grpSpPr>
          <a:xfrm rot="0">
            <a:off x="1165496" y="1169455"/>
            <a:ext cx="1064262" cy="1064262"/>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14" id="14"/>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4</a:t>
            </a:r>
          </a:p>
        </p:txBody>
      </p:sp>
      <p:sp>
        <p:nvSpPr>
          <p:cNvPr name="TextBox 15" id="15"/>
          <p:cNvSpPr txBox="true"/>
          <p:nvPr/>
        </p:nvSpPr>
        <p:spPr>
          <a:xfrm rot="0">
            <a:off x="2562169" y="1446728"/>
            <a:ext cx="6212398" cy="490665"/>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Ou</a:t>
            </a:r>
            <a:r>
              <a:rPr lang="en-US" b="true" sz="3106">
                <a:solidFill>
                  <a:srgbClr val="000000"/>
                </a:solidFill>
                <a:latin typeface="Roboto Bold"/>
                <a:ea typeface="Roboto Bold"/>
                <a:cs typeface="Roboto Bold"/>
                <a:sym typeface="Roboto Bold"/>
              </a:rPr>
              <a:t>tils d'Intégration Continue</a:t>
            </a:r>
          </a:p>
        </p:txBody>
      </p:sp>
      <p:graphicFrame>
        <p:nvGraphicFramePr>
          <p:cNvPr name="Object 16" id="16"/>
          <p:cNvGraphicFramePr/>
          <p:nvPr/>
        </p:nvGraphicFramePr>
        <p:xfrm>
          <a:off x="2229758" y="2457191"/>
          <a:ext cx="5029200" cy="4191000"/>
        </p:xfrm>
        <a:graphic>
          <a:graphicData uri="http://schemas.openxmlformats.org/presentationml/2006/ole">
            <p:oleObj imgW="6032500" imgH="51943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8</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165496" y="1169455"/>
            <a:ext cx="1064262" cy="1064262"/>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13" id="13"/>
          <p:cNvSpPr txBox="true"/>
          <p:nvPr/>
        </p:nvSpPr>
        <p:spPr>
          <a:xfrm rot="0">
            <a:off x="1582644" y="2993525"/>
            <a:ext cx="8219182" cy="2175206"/>
          </a:xfrm>
          <a:prstGeom prst="rect">
            <a:avLst/>
          </a:prstGeom>
        </p:spPr>
        <p:txBody>
          <a:bodyPr anchor="t" rtlCol="false" tIns="0" lIns="0" bIns="0" rIns="0">
            <a:spAutoFit/>
          </a:bodyPr>
          <a:lstStyle/>
          <a:p>
            <a:pPr algn="just">
              <a:lnSpc>
                <a:spcPts val="3499"/>
              </a:lnSpc>
            </a:pPr>
            <a:r>
              <a:rPr lang="en-US" sz="2499">
                <a:solidFill>
                  <a:srgbClr val="000000"/>
                </a:solidFill>
                <a:latin typeface="Roboto"/>
                <a:ea typeface="Roboto"/>
                <a:cs typeface="Roboto"/>
                <a:sym typeface="Roboto"/>
              </a:rPr>
              <a:t>Jenkins est un outil d'intégration</a:t>
            </a:r>
            <a:r>
              <a:rPr lang="en-US" sz="2499">
                <a:solidFill>
                  <a:srgbClr val="000000"/>
                </a:solidFill>
                <a:latin typeface="Roboto"/>
                <a:ea typeface="Roboto"/>
                <a:cs typeface="Roboto"/>
                <a:sym typeface="Roboto"/>
              </a:rPr>
              <a:t> continue qui permet   d’effectuer des tests et un déploiement fluides et continus du code nouvellement créé. Ceci permet de réduire la charge de travail des testeurs, accélère l'intégration et réduit le gaspillage de ressources.</a:t>
            </a:r>
          </a:p>
        </p:txBody>
      </p:sp>
      <p:sp>
        <p:nvSpPr>
          <p:cNvPr name="TextBox 14" id="14"/>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5</a:t>
            </a:r>
          </a:p>
        </p:txBody>
      </p:sp>
      <p:sp>
        <p:nvSpPr>
          <p:cNvPr name="AutoShape 15" id="15"/>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TextBox 16" id="16"/>
          <p:cNvSpPr txBox="true"/>
          <p:nvPr/>
        </p:nvSpPr>
        <p:spPr>
          <a:xfrm rot="0">
            <a:off x="1582644" y="5437720"/>
            <a:ext cx="14666304" cy="2886472"/>
          </a:xfrm>
          <a:prstGeom prst="rect">
            <a:avLst/>
          </a:prstGeom>
        </p:spPr>
        <p:txBody>
          <a:bodyPr anchor="t" rtlCol="false" tIns="0" lIns="0" bIns="0" rIns="0">
            <a:spAutoFit/>
          </a:bodyPr>
          <a:lstStyle/>
          <a:p>
            <a:pPr algn="just">
              <a:lnSpc>
                <a:spcPts val="3899"/>
              </a:lnSpc>
            </a:pPr>
            <a:r>
              <a:rPr lang="en-US" sz="2499">
                <a:solidFill>
                  <a:srgbClr val="000000"/>
                </a:solidFill>
                <a:latin typeface="Roboto"/>
                <a:ea typeface="Roboto"/>
                <a:cs typeface="Roboto"/>
                <a:sym typeface="Roboto"/>
              </a:rPr>
              <a:t>Jenkins est l'un des meilleurs, car il est gratui</a:t>
            </a:r>
            <a:r>
              <a:rPr lang="en-US" sz="2499">
                <a:solidFill>
                  <a:srgbClr val="000000"/>
                </a:solidFill>
                <a:latin typeface="Roboto"/>
                <a:ea typeface="Roboto"/>
                <a:cs typeface="Roboto"/>
                <a:sym typeface="Roboto"/>
              </a:rPr>
              <a:t>t, open source et s’intègre à majeure partie des autres outils DevOps. </a:t>
            </a:r>
          </a:p>
          <a:p>
            <a:pPr algn="just">
              <a:lnSpc>
                <a:spcPts val="3899"/>
              </a:lnSpc>
            </a:pPr>
          </a:p>
          <a:p>
            <a:pPr algn="just">
              <a:lnSpc>
                <a:spcPts val="3899"/>
              </a:lnSpc>
            </a:pPr>
            <a:r>
              <a:rPr lang="en-US" sz="2499">
                <a:solidFill>
                  <a:srgbClr val="000000"/>
                </a:solidFill>
                <a:latin typeface="Roboto"/>
                <a:ea typeface="Roboto"/>
                <a:cs typeface="Roboto"/>
                <a:sym typeface="Roboto"/>
              </a:rPr>
              <a:t>Plus d'un millier de plugins permettent d'étendre les fonctionnalités de Jenkins et de le rendre plus personnalisé. Tous ces plugins et extensions sont développés en Java. Ainsi, Jenkins peut également être installé sur tout système d'exploitation exécutant Java.</a:t>
            </a:r>
          </a:p>
        </p:txBody>
      </p:sp>
      <p:sp>
        <p:nvSpPr>
          <p:cNvPr name="Freeform 17" id="17"/>
          <p:cNvSpPr/>
          <p:nvPr/>
        </p:nvSpPr>
        <p:spPr>
          <a:xfrm flipH="false" flipV="false" rot="0">
            <a:off x="10209422" y="2377187"/>
            <a:ext cx="6495935" cy="3146258"/>
          </a:xfrm>
          <a:custGeom>
            <a:avLst/>
            <a:gdLst/>
            <a:ahLst/>
            <a:cxnLst/>
            <a:rect r="r" b="b" t="t" l="l"/>
            <a:pathLst>
              <a:path h="3146258" w="6495935">
                <a:moveTo>
                  <a:pt x="0" y="0"/>
                </a:moveTo>
                <a:lnTo>
                  <a:pt x="6495934" y="0"/>
                </a:lnTo>
                <a:lnTo>
                  <a:pt x="6495934" y="3146258"/>
                </a:lnTo>
                <a:lnTo>
                  <a:pt x="0" y="3146258"/>
                </a:lnTo>
                <a:lnTo>
                  <a:pt x="0" y="0"/>
                </a:lnTo>
                <a:close/>
              </a:path>
            </a:pathLst>
          </a:custGeom>
          <a:blipFill>
            <a:blip r:embed="rId4"/>
            <a:stretch>
              <a:fillRect l="0" t="-16372" r="0" b="-21184"/>
            </a:stretch>
          </a:blipFill>
        </p:spPr>
      </p:sp>
      <p:sp>
        <p:nvSpPr>
          <p:cNvPr name="TextBox 18" id="18"/>
          <p:cNvSpPr txBox="true"/>
          <p:nvPr/>
        </p:nvSpPr>
        <p:spPr>
          <a:xfrm rot="0">
            <a:off x="2562169" y="1446728"/>
            <a:ext cx="6212398" cy="490665"/>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Pré</a:t>
            </a:r>
            <a:r>
              <a:rPr lang="en-US" b="true" sz="3106">
                <a:solidFill>
                  <a:srgbClr val="000000"/>
                </a:solidFill>
                <a:latin typeface="Roboto Bold"/>
                <a:ea typeface="Roboto Bold"/>
                <a:cs typeface="Roboto Bold"/>
                <a:sym typeface="Roboto Bold"/>
              </a:rPr>
              <a:t>sentation de Jenkins</a:t>
            </a:r>
          </a:p>
        </p:txBody>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9</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p:nvPr/>
        </p:nvGrpSpPr>
        <p:grpSpPr>
          <a:xfrm rot="0">
            <a:off x="9144000" y="2620853"/>
            <a:ext cx="1293967" cy="1293967"/>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8E8E8"/>
            </a:solidFill>
          </p:spPr>
        </p:sp>
      </p:grpSp>
      <p:grpSp>
        <p:nvGrpSpPr>
          <p:cNvPr name="Group 6" id="6"/>
          <p:cNvGrpSpPr/>
          <p:nvPr/>
        </p:nvGrpSpPr>
        <p:grpSpPr>
          <a:xfrm rot="0">
            <a:off x="9144000" y="4495446"/>
            <a:ext cx="1293967" cy="1293967"/>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8E8E8"/>
            </a:solidFill>
          </p:spPr>
        </p:sp>
      </p:grpSp>
      <p:grpSp>
        <p:nvGrpSpPr>
          <p:cNvPr name="Group 8" id="8"/>
          <p:cNvGrpSpPr/>
          <p:nvPr/>
        </p:nvGrpSpPr>
        <p:grpSpPr>
          <a:xfrm rot="0">
            <a:off x="9144000" y="6372180"/>
            <a:ext cx="1293967" cy="1293967"/>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8E8E8"/>
            </a:solidFill>
          </p:spPr>
        </p:sp>
      </p:grpSp>
      <p:sp>
        <p:nvSpPr>
          <p:cNvPr name="Freeform 10" id="10"/>
          <p:cNvSpPr/>
          <p:nvPr/>
        </p:nvSpPr>
        <p:spPr>
          <a:xfrm flipH="false" flipV="false" rot="0">
            <a:off x="9345905" y="6574085"/>
            <a:ext cx="890157" cy="890157"/>
          </a:xfrm>
          <a:custGeom>
            <a:avLst/>
            <a:gdLst/>
            <a:ahLst/>
            <a:cxnLst/>
            <a:rect r="r" b="b" t="t" l="l"/>
            <a:pathLst>
              <a:path h="890157" w="890157">
                <a:moveTo>
                  <a:pt x="0" y="0"/>
                </a:moveTo>
                <a:lnTo>
                  <a:pt x="890157" y="0"/>
                </a:lnTo>
                <a:lnTo>
                  <a:pt x="890157" y="890157"/>
                </a:lnTo>
                <a:lnTo>
                  <a:pt x="0" y="8901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a:grpSpLocks noChangeAspect="true"/>
          </p:cNvGrpSpPr>
          <p:nvPr/>
        </p:nvGrpSpPr>
        <p:grpSpPr>
          <a:xfrm rot="0">
            <a:off x="16900199" y="9148181"/>
            <a:ext cx="359101" cy="359101"/>
            <a:chOff x="0" y="0"/>
            <a:chExt cx="1708150" cy="1708150"/>
          </a:xfrm>
        </p:grpSpPr>
        <p:sp>
          <p:nvSpPr>
            <p:cNvPr name="Freeform 12" id="12"/>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13" id="13"/>
          <p:cNvGrpSpPr>
            <a:grpSpLocks noChangeAspect="true"/>
          </p:cNvGrpSpPr>
          <p:nvPr/>
        </p:nvGrpSpPr>
        <p:grpSpPr>
          <a:xfrm rot="0">
            <a:off x="16291508" y="9148181"/>
            <a:ext cx="359101" cy="359101"/>
            <a:chOff x="0" y="0"/>
            <a:chExt cx="1708150" cy="1708150"/>
          </a:xfrm>
        </p:grpSpPr>
        <p:sp>
          <p:nvSpPr>
            <p:cNvPr name="Freeform 14" id="14"/>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15" id="15"/>
          <p:cNvGrpSpPr/>
          <p:nvPr/>
        </p:nvGrpSpPr>
        <p:grpSpPr>
          <a:xfrm rot="0">
            <a:off x="15686735" y="9150140"/>
            <a:ext cx="355183" cy="355183"/>
            <a:chOff x="0" y="0"/>
            <a:chExt cx="6350000" cy="6350000"/>
          </a:xfrm>
        </p:grpSpPr>
        <p:sp>
          <p:nvSpPr>
            <p:cNvPr name="Freeform 16" id="1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7" id="17"/>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9383388" y="2868902"/>
            <a:ext cx="815192" cy="797869"/>
          </a:xfrm>
          <a:custGeom>
            <a:avLst/>
            <a:gdLst/>
            <a:ahLst/>
            <a:cxnLst/>
            <a:rect r="r" b="b" t="t" l="l"/>
            <a:pathLst>
              <a:path h="797869" w="815192">
                <a:moveTo>
                  <a:pt x="0" y="0"/>
                </a:moveTo>
                <a:lnTo>
                  <a:pt x="815191" y="0"/>
                </a:lnTo>
                <a:lnTo>
                  <a:pt x="815191" y="797869"/>
                </a:lnTo>
                <a:lnTo>
                  <a:pt x="0" y="7978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9362227" y="4741007"/>
            <a:ext cx="857512" cy="802846"/>
          </a:xfrm>
          <a:custGeom>
            <a:avLst/>
            <a:gdLst/>
            <a:ahLst/>
            <a:cxnLst/>
            <a:rect r="r" b="b" t="t" l="l"/>
            <a:pathLst>
              <a:path h="802846" w="857512">
                <a:moveTo>
                  <a:pt x="0" y="0"/>
                </a:moveTo>
                <a:lnTo>
                  <a:pt x="857513" y="0"/>
                </a:lnTo>
                <a:lnTo>
                  <a:pt x="857513" y="802845"/>
                </a:lnTo>
                <a:lnTo>
                  <a:pt x="0" y="8028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0" id="20"/>
          <p:cNvGrpSpPr/>
          <p:nvPr/>
        </p:nvGrpSpPr>
        <p:grpSpPr>
          <a:xfrm rot="0">
            <a:off x="1165496" y="1169455"/>
            <a:ext cx="1064262" cy="1064262"/>
            <a:chOff x="0" y="0"/>
            <a:chExt cx="6350000" cy="6350000"/>
          </a:xfrm>
        </p:grpSpPr>
        <p:sp>
          <p:nvSpPr>
            <p:cNvPr name="Freeform 21" id="2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AutoShape 22" id="22"/>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TextBox 23" id="23"/>
          <p:cNvSpPr txBox="true"/>
          <p:nvPr/>
        </p:nvSpPr>
        <p:spPr>
          <a:xfrm rot="0">
            <a:off x="2014332" y="2491598"/>
            <a:ext cx="10553830" cy="4451191"/>
          </a:xfrm>
          <a:prstGeom prst="rect">
            <a:avLst/>
          </a:prstGeom>
        </p:spPr>
        <p:txBody>
          <a:bodyPr anchor="t" rtlCol="false" tIns="0" lIns="0" bIns="0" rIns="0">
            <a:spAutoFit/>
          </a:bodyPr>
          <a:lstStyle/>
          <a:p>
            <a:pPr algn="just" marL="0" indent="0" lvl="0">
              <a:lnSpc>
                <a:spcPts val="2940"/>
              </a:lnSpc>
              <a:spcBef>
                <a:spcPct val="0"/>
              </a:spcBef>
            </a:pPr>
            <a:r>
              <a:rPr lang="en-US" sz="2100">
                <a:solidFill>
                  <a:srgbClr val="000000"/>
                </a:solidFill>
                <a:latin typeface="Roboto"/>
                <a:ea typeface="Roboto"/>
                <a:cs typeface="Roboto"/>
                <a:sym typeface="Roboto"/>
              </a:rPr>
              <a:t>L'histoire de Jenkins commence en </a:t>
            </a:r>
            <a:r>
              <a:rPr lang="en-US" sz="2100" strike="noStrike" u="none">
                <a:solidFill>
                  <a:srgbClr val="000000"/>
                </a:solidFill>
                <a:latin typeface="Roboto"/>
                <a:ea typeface="Roboto"/>
                <a:cs typeface="Roboto"/>
                <a:sym typeface="Roboto"/>
              </a:rPr>
              <a:t>2004 avec la création d’ </a:t>
            </a:r>
            <a:r>
              <a:rPr lang="en-US" b="true" sz="2100" strike="noStrike" u="none">
                <a:solidFill>
                  <a:srgbClr val="000000"/>
                </a:solidFill>
                <a:latin typeface="Roboto Bold"/>
                <a:ea typeface="Roboto Bold"/>
                <a:cs typeface="Roboto Bold"/>
                <a:sym typeface="Roboto Bold"/>
              </a:rPr>
              <a:t>Hudson</a:t>
            </a:r>
            <a:r>
              <a:rPr lang="en-US" sz="2100" strike="noStrike" u="none">
                <a:solidFill>
                  <a:srgbClr val="000000"/>
                </a:solidFill>
                <a:latin typeface="Roboto"/>
                <a:ea typeface="Roboto"/>
                <a:cs typeface="Roboto"/>
                <a:sym typeface="Roboto"/>
              </a:rPr>
              <a:t> par </a:t>
            </a:r>
            <a:r>
              <a:rPr lang="en-US" b="true" sz="2100" strike="noStrike" u="none">
                <a:solidFill>
                  <a:srgbClr val="000000"/>
                </a:solidFill>
                <a:latin typeface="Roboto Bold"/>
                <a:ea typeface="Roboto Bold"/>
                <a:cs typeface="Roboto Bold"/>
                <a:sym typeface="Roboto Bold"/>
              </a:rPr>
              <a:t>Kohsuke Kawaguchi</a:t>
            </a:r>
            <a:r>
              <a:rPr lang="en-US" sz="2100" strike="noStrike" u="none">
                <a:solidFill>
                  <a:srgbClr val="000000"/>
                </a:solidFill>
                <a:latin typeface="Roboto"/>
                <a:ea typeface="Roboto"/>
                <a:cs typeface="Roboto"/>
                <a:sym typeface="Roboto"/>
              </a:rPr>
              <a:t>. En 2009 Oracle rachète Sun Microsystems devenant ainsi le propriétaire du projet. En Fin d’année 2010 des tensions apparaissent entre la communauté et Oracle, conduisant en janvier 2011 à une copie du projet qui donne naissance à Jenkins. Dès février 2011, Jenkins publie sa première version officielle.</a:t>
            </a:r>
            <a:r>
              <a:rPr lang="en-US" sz="2100" strike="noStrike" u="none">
                <a:solidFill>
                  <a:srgbClr val="000000"/>
                </a:solidFill>
                <a:latin typeface="Roboto"/>
                <a:ea typeface="Roboto"/>
                <a:cs typeface="Roboto"/>
                <a:sym typeface="Roboto"/>
              </a:rPr>
              <a:t> [2]</a:t>
            </a:r>
          </a:p>
          <a:p>
            <a:pPr algn="just" marL="0" indent="0" lvl="0">
              <a:lnSpc>
                <a:spcPts val="2940"/>
              </a:lnSpc>
              <a:spcBef>
                <a:spcPct val="0"/>
              </a:spcBef>
            </a:pPr>
          </a:p>
          <a:p>
            <a:pPr algn="just" marL="0" indent="0" lvl="0">
              <a:lnSpc>
                <a:spcPts val="2940"/>
              </a:lnSpc>
              <a:spcBef>
                <a:spcPct val="0"/>
              </a:spcBef>
            </a:pPr>
            <a:r>
              <a:rPr lang="en-US" sz="2100" strike="noStrike" u="none">
                <a:solidFill>
                  <a:srgbClr val="000000"/>
                </a:solidFill>
                <a:latin typeface="Roboto"/>
                <a:ea typeface="Roboto"/>
                <a:cs typeface="Roboto"/>
                <a:sym typeface="Roboto"/>
              </a:rPr>
              <a:t>Le projet connaît une croissance rapide, atteignant 50 000 installations actives en 2013. En 2016 Jenkins est transféré à la Continuous Delivery Foundation pour assurer sa gouvernance. l'année 2017 marque le lancement de Jenkins 2.0 avec des améliorations significatives. En 2018, Jenkins dépasse les 150.000 installations et célèbre ses 10 ans en 2020. En 2024 Jenkins intègre des fonctionnalités d'IA et de machine learning pour améliorer les pipelines CI/CD.</a:t>
            </a:r>
          </a:p>
        </p:txBody>
      </p:sp>
      <p:sp>
        <p:nvSpPr>
          <p:cNvPr name="TextBox 24" id="24"/>
          <p:cNvSpPr txBox="true"/>
          <p:nvPr/>
        </p:nvSpPr>
        <p:spPr>
          <a:xfrm rot="0">
            <a:off x="2693663" y="1446640"/>
            <a:ext cx="6212398" cy="490665"/>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His</a:t>
            </a:r>
            <a:r>
              <a:rPr lang="en-US" b="true" sz="3106">
                <a:solidFill>
                  <a:srgbClr val="000000"/>
                </a:solidFill>
                <a:latin typeface="Roboto Bold"/>
                <a:ea typeface="Roboto Bold"/>
                <a:cs typeface="Roboto Bold"/>
                <a:sym typeface="Roboto Bold"/>
              </a:rPr>
              <a:t>torique et origine de Jenkins</a:t>
            </a:r>
          </a:p>
        </p:txBody>
      </p:sp>
      <p:sp>
        <p:nvSpPr>
          <p:cNvPr name="TextBox 25" id="25"/>
          <p:cNvSpPr txBox="true"/>
          <p:nvPr/>
        </p:nvSpPr>
        <p:spPr>
          <a:xfrm rot="0">
            <a:off x="1028700" y="9161007"/>
            <a:ext cx="6606248" cy="323924"/>
          </a:xfrm>
          <a:prstGeom prst="rect">
            <a:avLst/>
          </a:prstGeom>
        </p:spPr>
        <p:txBody>
          <a:bodyPr anchor="t" rtlCol="false" tIns="0" lIns="0" bIns="0" rIns="0">
            <a:spAutoFit/>
          </a:bodyPr>
          <a:lstStyle/>
          <a:p>
            <a:pPr algn="l">
              <a:lnSpc>
                <a:spcPts val="2520"/>
              </a:lnSpc>
            </a:pPr>
            <a:r>
              <a:rPr lang="en-US" sz="2100" b="true">
                <a:solidFill>
                  <a:srgbClr val="000000"/>
                </a:solidFill>
                <a:latin typeface="Quicksand Medium"/>
                <a:ea typeface="Quicksand Medium"/>
                <a:cs typeface="Quicksand Medium"/>
                <a:sym typeface="Quicksand Medium"/>
              </a:rPr>
              <a:t>Mise</a:t>
            </a:r>
            <a:r>
              <a:rPr lang="en-US" sz="2100" b="true">
                <a:solidFill>
                  <a:srgbClr val="000000"/>
                </a:solidFill>
                <a:latin typeface="Quicksand Medium"/>
                <a:ea typeface="Quicksand Medium"/>
                <a:cs typeface="Quicksand Medium"/>
                <a:sym typeface="Quicksand Medium"/>
              </a:rPr>
              <a:t> en place de l'intégration continue avec Jenkins</a:t>
            </a:r>
          </a:p>
        </p:txBody>
      </p:sp>
      <p:sp>
        <p:nvSpPr>
          <p:cNvPr name="TextBox 26" id="26"/>
          <p:cNvSpPr txBox="true"/>
          <p:nvPr/>
        </p:nvSpPr>
        <p:spPr>
          <a:xfrm rot="0">
            <a:off x="2014332" y="7254728"/>
            <a:ext cx="14241300" cy="1479920"/>
          </a:xfrm>
          <a:prstGeom prst="rect">
            <a:avLst/>
          </a:prstGeom>
        </p:spPr>
        <p:txBody>
          <a:bodyPr anchor="t" rtlCol="false" tIns="0" lIns="0" bIns="0" rIns="0">
            <a:spAutoFit/>
          </a:bodyPr>
          <a:lstStyle/>
          <a:p>
            <a:pPr algn="just" marL="453392" indent="-226696" lvl="1">
              <a:lnSpc>
                <a:spcPts val="2940"/>
              </a:lnSpc>
              <a:spcBef>
                <a:spcPct val="0"/>
              </a:spcBef>
              <a:buFont typeface="Arial"/>
              <a:buChar char="•"/>
            </a:pPr>
            <a:r>
              <a:rPr lang="en-US" b="true" sz="2100" strike="noStrike" u="none">
                <a:solidFill>
                  <a:srgbClr val="000000"/>
                </a:solidFill>
                <a:latin typeface="Roboto Bold"/>
                <a:ea typeface="Roboto Bold"/>
                <a:cs typeface="Roboto Bold"/>
                <a:sym typeface="Roboto Bold"/>
              </a:rPr>
              <a:t>Pourquoi Jenkins a autant marqué ?</a:t>
            </a:r>
          </a:p>
          <a:p>
            <a:pPr algn="just" marL="0" indent="0" lvl="0">
              <a:lnSpc>
                <a:spcPts val="2940"/>
              </a:lnSpc>
              <a:spcBef>
                <a:spcPct val="0"/>
              </a:spcBef>
            </a:pPr>
          </a:p>
          <a:p>
            <a:pPr algn="just" marL="0" indent="0" lvl="0">
              <a:lnSpc>
                <a:spcPts val="2940"/>
              </a:lnSpc>
              <a:spcBef>
                <a:spcPct val="0"/>
              </a:spcBef>
            </a:pPr>
            <a:r>
              <a:rPr lang="en-US" sz="2100" strike="noStrike" u="none">
                <a:solidFill>
                  <a:srgbClr val="000000"/>
                </a:solidFill>
                <a:latin typeface="Roboto"/>
                <a:ea typeface="Roboto"/>
                <a:cs typeface="Roboto"/>
                <a:sym typeface="Roboto"/>
              </a:rPr>
              <a:t>C’est l’un des premiers outils open source, extensibles et universels pour la CI/CD. </a:t>
            </a:r>
          </a:p>
          <a:p>
            <a:pPr algn="just" marL="0" indent="0" lvl="0">
              <a:lnSpc>
                <a:spcPts val="2940"/>
              </a:lnSpc>
              <a:spcBef>
                <a:spcPct val="0"/>
              </a:spcBef>
            </a:pPr>
            <a:r>
              <a:rPr lang="en-US" sz="2100" strike="noStrike" u="none">
                <a:solidFill>
                  <a:srgbClr val="000000"/>
                </a:solidFill>
                <a:latin typeface="Roboto"/>
                <a:ea typeface="Roboto"/>
                <a:cs typeface="Roboto"/>
                <a:sym typeface="Roboto"/>
              </a:rPr>
              <a:t>Avant Jenkins, il fallait tout bricoler à la main avec des scripts d’automatisation.</a:t>
            </a:r>
          </a:p>
        </p:txBody>
      </p:sp>
      <p:grpSp>
        <p:nvGrpSpPr>
          <p:cNvPr name="Group 27" id="27"/>
          <p:cNvGrpSpPr/>
          <p:nvPr/>
        </p:nvGrpSpPr>
        <p:grpSpPr>
          <a:xfrm rot="0">
            <a:off x="13272405" y="2968602"/>
            <a:ext cx="3605483" cy="360548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0" t="0" r="0" b="0"/>
              </a:stretch>
            </a:blipFill>
          </p:spPr>
        </p:sp>
      </p:grpSp>
      <p:sp>
        <p:nvSpPr>
          <p:cNvPr name="TextBox 29" id="29"/>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6</a:t>
            </a:r>
          </a:p>
        </p:txBody>
      </p:sp>
      <p:sp>
        <p:nvSpPr>
          <p:cNvPr name="TextBox 30" id="30"/>
          <p:cNvSpPr txBox="true"/>
          <p:nvPr/>
        </p:nvSpPr>
        <p:spPr>
          <a:xfrm rot="0">
            <a:off x="14185714" y="6685840"/>
            <a:ext cx="1858367" cy="257175"/>
          </a:xfrm>
          <a:prstGeom prst="rect">
            <a:avLst/>
          </a:prstGeom>
        </p:spPr>
        <p:txBody>
          <a:bodyPr anchor="t" rtlCol="false" tIns="0" lIns="0" bIns="0" rIns="0">
            <a:spAutoFit/>
          </a:bodyPr>
          <a:lstStyle/>
          <a:p>
            <a:pPr algn="ctr">
              <a:lnSpc>
                <a:spcPts val="1919"/>
              </a:lnSpc>
              <a:spcBef>
                <a:spcPct val="0"/>
              </a:spcBef>
            </a:pPr>
            <a:r>
              <a:rPr lang="en-US" b="true" sz="1599" i="true">
                <a:solidFill>
                  <a:srgbClr val="000000"/>
                </a:solidFill>
                <a:latin typeface="Roboto Bold Italics"/>
                <a:ea typeface="Roboto Bold Italics"/>
                <a:cs typeface="Roboto Bold Italics"/>
                <a:sym typeface="Roboto Bold Italics"/>
              </a:rPr>
              <a:t>Kohsuke Kawaguchi.</a:t>
            </a:r>
          </a:p>
        </p:txBody>
      </p:sp>
      <p:sp>
        <p:nvSpPr>
          <p:cNvPr name="TextBox 31" id="3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10</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165496" y="1169455"/>
            <a:ext cx="1064262" cy="1064262"/>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AutoShape 13" id="13"/>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Freeform 14" id="14"/>
          <p:cNvSpPr/>
          <p:nvPr/>
        </p:nvSpPr>
        <p:spPr>
          <a:xfrm flipH="false" flipV="false" rot="0">
            <a:off x="6111563" y="8004386"/>
            <a:ext cx="889525" cy="482567"/>
          </a:xfrm>
          <a:custGeom>
            <a:avLst/>
            <a:gdLst/>
            <a:ahLst/>
            <a:cxnLst/>
            <a:rect r="r" b="b" t="t" l="l"/>
            <a:pathLst>
              <a:path h="482567" w="889525">
                <a:moveTo>
                  <a:pt x="0" y="0"/>
                </a:moveTo>
                <a:lnTo>
                  <a:pt x="889525" y="0"/>
                </a:lnTo>
                <a:lnTo>
                  <a:pt x="889525" y="482568"/>
                </a:lnTo>
                <a:lnTo>
                  <a:pt x="0" y="4825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2177396" y="8004386"/>
            <a:ext cx="889525" cy="482567"/>
          </a:xfrm>
          <a:custGeom>
            <a:avLst/>
            <a:gdLst/>
            <a:ahLst/>
            <a:cxnLst/>
            <a:rect r="r" b="b" t="t" l="l"/>
            <a:pathLst>
              <a:path h="482567" w="889525">
                <a:moveTo>
                  <a:pt x="0" y="0"/>
                </a:moveTo>
                <a:lnTo>
                  <a:pt x="889526" y="0"/>
                </a:lnTo>
                <a:lnTo>
                  <a:pt x="889526" y="482568"/>
                </a:lnTo>
                <a:lnTo>
                  <a:pt x="0" y="4825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2415512" y="5972269"/>
            <a:ext cx="1214814" cy="1214814"/>
          </a:xfrm>
          <a:custGeom>
            <a:avLst/>
            <a:gdLst/>
            <a:ahLst/>
            <a:cxnLst/>
            <a:rect r="r" b="b" t="t" l="l"/>
            <a:pathLst>
              <a:path h="1214814" w="1214814">
                <a:moveTo>
                  <a:pt x="0" y="0"/>
                </a:moveTo>
                <a:lnTo>
                  <a:pt x="1214814" y="0"/>
                </a:lnTo>
                <a:lnTo>
                  <a:pt x="1214814" y="1214813"/>
                </a:lnTo>
                <a:lnTo>
                  <a:pt x="0" y="12148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0462742" y="4386996"/>
            <a:ext cx="6796558" cy="767968"/>
          </a:xfrm>
          <a:custGeom>
            <a:avLst/>
            <a:gdLst/>
            <a:ahLst/>
            <a:cxnLst/>
            <a:rect r="r" b="b" t="t" l="l"/>
            <a:pathLst>
              <a:path h="767968" w="6796558">
                <a:moveTo>
                  <a:pt x="0" y="0"/>
                </a:moveTo>
                <a:lnTo>
                  <a:pt x="6796558" y="0"/>
                </a:lnTo>
                <a:lnTo>
                  <a:pt x="6796558" y="767968"/>
                </a:lnTo>
                <a:lnTo>
                  <a:pt x="0" y="767968"/>
                </a:lnTo>
                <a:lnTo>
                  <a:pt x="0" y="0"/>
                </a:lnTo>
                <a:close/>
              </a:path>
            </a:pathLst>
          </a:custGeom>
          <a:blipFill>
            <a:blip r:embed="rId8"/>
            <a:stretch>
              <a:fillRect l="0" t="-250408" r="-66279" b="-418491"/>
            </a:stretch>
          </a:blipFill>
        </p:spPr>
      </p:sp>
      <p:sp>
        <p:nvSpPr>
          <p:cNvPr name="TextBox 18" id="18"/>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7</a:t>
            </a:r>
          </a:p>
        </p:txBody>
      </p:sp>
      <p:sp>
        <p:nvSpPr>
          <p:cNvPr name="TextBox 19" id="19"/>
          <p:cNvSpPr txBox="true"/>
          <p:nvPr/>
        </p:nvSpPr>
        <p:spPr>
          <a:xfrm rot="0">
            <a:off x="2611243" y="1213301"/>
            <a:ext cx="6212398" cy="962280"/>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In</a:t>
            </a:r>
            <a:r>
              <a:rPr lang="en-US" b="true" sz="3106">
                <a:solidFill>
                  <a:srgbClr val="000000"/>
                </a:solidFill>
                <a:latin typeface="Roboto Bold"/>
                <a:ea typeface="Roboto Bold"/>
                <a:cs typeface="Roboto Bold"/>
                <a:sym typeface="Roboto Bold"/>
              </a:rPr>
              <a:t>stallation et configuration de Jenkins</a:t>
            </a:r>
          </a:p>
        </p:txBody>
      </p:sp>
      <p:sp>
        <p:nvSpPr>
          <p:cNvPr name="TextBox 20" id="20"/>
          <p:cNvSpPr txBox="true"/>
          <p:nvPr/>
        </p:nvSpPr>
        <p:spPr>
          <a:xfrm rot="0">
            <a:off x="1028700" y="9161007"/>
            <a:ext cx="6606248" cy="323924"/>
          </a:xfrm>
          <a:prstGeom prst="rect">
            <a:avLst/>
          </a:prstGeom>
        </p:spPr>
        <p:txBody>
          <a:bodyPr anchor="t" rtlCol="false" tIns="0" lIns="0" bIns="0" rIns="0">
            <a:spAutoFit/>
          </a:bodyPr>
          <a:lstStyle/>
          <a:p>
            <a:pPr algn="l">
              <a:lnSpc>
                <a:spcPts val="2520"/>
              </a:lnSpc>
            </a:pPr>
            <a:r>
              <a:rPr lang="en-US" sz="2100" b="true">
                <a:solidFill>
                  <a:srgbClr val="000000"/>
                </a:solidFill>
                <a:latin typeface="Quicksand Medium"/>
                <a:ea typeface="Quicksand Medium"/>
                <a:cs typeface="Quicksand Medium"/>
                <a:sym typeface="Quicksand Medium"/>
              </a:rPr>
              <a:t>Mise</a:t>
            </a:r>
            <a:r>
              <a:rPr lang="en-US" sz="2100" b="true">
                <a:solidFill>
                  <a:srgbClr val="000000"/>
                </a:solidFill>
                <a:latin typeface="Quicksand Medium"/>
                <a:ea typeface="Quicksand Medium"/>
                <a:cs typeface="Quicksand Medium"/>
                <a:sym typeface="Quicksand Medium"/>
              </a:rPr>
              <a:t> en place de l'intégration continue avec Jenkins</a:t>
            </a:r>
          </a:p>
        </p:txBody>
      </p:sp>
      <p:sp>
        <p:nvSpPr>
          <p:cNvPr name="TextBox 21" id="21"/>
          <p:cNvSpPr txBox="true"/>
          <p:nvPr/>
        </p:nvSpPr>
        <p:spPr>
          <a:xfrm rot="0">
            <a:off x="2229758" y="2907076"/>
            <a:ext cx="6267170" cy="1479920"/>
          </a:xfrm>
          <a:prstGeom prst="rect">
            <a:avLst/>
          </a:prstGeom>
        </p:spPr>
        <p:txBody>
          <a:bodyPr anchor="t" rtlCol="false" tIns="0" lIns="0" bIns="0" rIns="0">
            <a:spAutoFit/>
          </a:bodyPr>
          <a:lstStyle/>
          <a:p>
            <a:pPr algn="just" marL="0" indent="0" lvl="0">
              <a:lnSpc>
                <a:spcPts val="2940"/>
              </a:lnSpc>
              <a:spcBef>
                <a:spcPct val="0"/>
              </a:spcBef>
            </a:pPr>
            <a:r>
              <a:rPr lang="en-US" b="true" sz="2100" strike="noStrike" u="none">
                <a:solidFill>
                  <a:srgbClr val="000000"/>
                </a:solidFill>
                <a:latin typeface="Roboto Bold"/>
                <a:ea typeface="Roboto Bold"/>
                <a:cs typeface="Roboto Bold"/>
                <a:sym typeface="Roboto Bold"/>
              </a:rPr>
              <a:t>Prérequis</a:t>
            </a:r>
          </a:p>
          <a:p>
            <a:pPr algn="just" marL="453392" indent="-226696" lvl="1">
              <a:lnSpc>
                <a:spcPts val="2940"/>
              </a:lnSpc>
              <a:spcBef>
                <a:spcPct val="0"/>
              </a:spcBef>
              <a:buFont typeface="Arial"/>
              <a:buChar char="•"/>
            </a:pPr>
            <a:r>
              <a:rPr lang="en-US" sz="2100" strike="noStrike" u="none">
                <a:solidFill>
                  <a:srgbClr val="000000"/>
                </a:solidFill>
                <a:latin typeface="Roboto"/>
                <a:ea typeface="Roboto"/>
                <a:cs typeface="Roboto"/>
                <a:sym typeface="Roboto"/>
              </a:rPr>
              <a:t>Java</a:t>
            </a:r>
            <a:r>
              <a:rPr lang="en-US" sz="2100" strike="noStrike" u="none">
                <a:solidFill>
                  <a:srgbClr val="000000"/>
                </a:solidFill>
                <a:latin typeface="Roboto"/>
                <a:ea typeface="Roboto"/>
                <a:cs typeface="Roboto"/>
                <a:sym typeface="Roboto"/>
              </a:rPr>
              <a:t> </a:t>
            </a:r>
            <a:r>
              <a:rPr lang="en-US" sz="2100" strike="noStrike" u="none">
                <a:solidFill>
                  <a:srgbClr val="000000"/>
                </a:solidFill>
                <a:latin typeface="Roboto"/>
                <a:ea typeface="Roboto"/>
                <a:cs typeface="Roboto"/>
                <a:sym typeface="Roboto"/>
              </a:rPr>
              <a:t>(JDK</a:t>
            </a:r>
            <a:r>
              <a:rPr lang="en-US" sz="2100" strike="noStrike" u="none">
                <a:solidFill>
                  <a:srgbClr val="000000"/>
                </a:solidFill>
                <a:latin typeface="Roboto"/>
                <a:ea typeface="Roboto"/>
                <a:cs typeface="Roboto"/>
                <a:sym typeface="Roboto"/>
              </a:rPr>
              <a:t> </a:t>
            </a:r>
            <a:r>
              <a:rPr lang="en-US" sz="2100" strike="noStrike" u="none">
                <a:solidFill>
                  <a:srgbClr val="000000"/>
                </a:solidFill>
                <a:latin typeface="Roboto"/>
                <a:ea typeface="Roboto"/>
                <a:cs typeface="Roboto"/>
                <a:sym typeface="Roboto"/>
              </a:rPr>
              <a:t>11</a:t>
            </a:r>
            <a:r>
              <a:rPr lang="en-US" sz="2100" strike="noStrike" u="none">
                <a:solidFill>
                  <a:srgbClr val="000000"/>
                </a:solidFill>
                <a:latin typeface="Roboto"/>
                <a:ea typeface="Roboto"/>
                <a:cs typeface="Roboto"/>
                <a:sym typeface="Roboto"/>
              </a:rPr>
              <a:t> ou su</a:t>
            </a:r>
            <a:r>
              <a:rPr lang="en-US" sz="2100" strike="noStrike" u="none">
                <a:solidFill>
                  <a:srgbClr val="000000"/>
                </a:solidFill>
                <a:latin typeface="Roboto"/>
                <a:ea typeface="Roboto"/>
                <a:cs typeface="Roboto"/>
                <a:sym typeface="Roboto"/>
              </a:rPr>
              <a:t>pé</a:t>
            </a:r>
            <a:r>
              <a:rPr lang="en-US" sz="2100" strike="noStrike" u="none">
                <a:solidFill>
                  <a:srgbClr val="000000"/>
                </a:solidFill>
                <a:latin typeface="Roboto"/>
                <a:ea typeface="Roboto"/>
                <a:cs typeface="Roboto"/>
                <a:sym typeface="Roboto"/>
              </a:rPr>
              <a:t>rieur</a:t>
            </a:r>
            <a:r>
              <a:rPr lang="en-US" sz="2100" strike="noStrike" u="none">
                <a:solidFill>
                  <a:srgbClr val="000000"/>
                </a:solidFill>
                <a:latin typeface="Roboto"/>
                <a:ea typeface="Roboto"/>
                <a:cs typeface="Roboto"/>
                <a:sym typeface="Roboto"/>
              </a:rPr>
              <a:t>)</a:t>
            </a:r>
          </a:p>
          <a:p>
            <a:pPr algn="just" marL="453392" indent="-226696" lvl="1">
              <a:lnSpc>
                <a:spcPts val="2940"/>
              </a:lnSpc>
              <a:spcBef>
                <a:spcPct val="0"/>
              </a:spcBef>
              <a:buFont typeface="Arial"/>
              <a:buChar char="•"/>
            </a:pPr>
            <a:r>
              <a:rPr lang="en-US" sz="2100" strike="noStrike" u="none">
                <a:solidFill>
                  <a:srgbClr val="000000"/>
                </a:solidFill>
                <a:latin typeface="Roboto"/>
                <a:ea typeface="Roboto"/>
                <a:cs typeface="Roboto"/>
                <a:sym typeface="Roboto"/>
              </a:rPr>
              <a:t>Accès admin sur la machine</a:t>
            </a:r>
          </a:p>
          <a:p>
            <a:pPr algn="just" marL="453392" indent="-226696" lvl="1">
              <a:lnSpc>
                <a:spcPts val="2940"/>
              </a:lnSpc>
              <a:spcBef>
                <a:spcPct val="0"/>
              </a:spcBef>
              <a:buFont typeface="Arial"/>
              <a:buChar char="•"/>
            </a:pPr>
            <a:r>
              <a:rPr lang="en-US" sz="2100" strike="noStrike" u="none">
                <a:solidFill>
                  <a:srgbClr val="000000"/>
                </a:solidFill>
                <a:latin typeface="Roboto"/>
                <a:ea typeface="Roboto"/>
                <a:cs typeface="Roboto"/>
                <a:sym typeface="Roboto"/>
              </a:rPr>
              <a:t>Docker (pour une installation via docker)</a:t>
            </a:r>
          </a:p>
        </p:txBody>
      </p:sp>
      <p:sp>
        <p:nvSpPr>
          <p:cNvPr name="TextBox 22" id="22"/>
          <p:cNvSpPr txBox="true"/>
          <p:nvPr/>
        </p:nvSpPr>
        <p:spPr>
          <a:xfrm rot="0">
            <a:off x="4103786" y="5444494"/>
            <a:ext cx="11768702" cy="2222738"/>
          </a:xfrm>
          <a:prstGeom prst="rect">
            <a:avLst/>
          </a:prstGeom>
        </p:spPr>
        <p:txBody>
          <a:bodyPr anchor="t" rtlCol="false" tIns="0" lIns="0" bIns="0" rIns="0">
            <a:spAutoFit/>
          </a:bodyPr>
          <a:lstStyle/>
          <a:p>
            <a:pPr algn="just" marL="0" indent="0" lvl="0">
              <a:lnSpc>
                <a:spcPts val="2940"/>
              </a:lnSpc>
              <a:spcBef>
                <a:spcPct val="0"/>
              </a:spcBef>
            </a:pPr>
            <a:r>
              <a:rPr lang="en-US" b="true" sz="2100">
                <a:solidFill>
                  <a:srgbClr val="000000"/>
                </a:solidFill>
                <a:latin typeface="Roboto Bold"/>
                <a:ea typeface="Roboto Bold"/>
                <a:cs typeface="Roboto Bold"/>
                <a:sym typeface="Roboto Bold"/>
              </a:rPr>
              <a:t>So</a:t>
            </a:r>
            <a:r>
              <a:rPr lang="en-US" b="true" sz="2100" strike="noStrike" u="none">
                <a:solidFill>
                  <a:srgbClr val="000000"/>
                </a:solidFill>
                <a:latin typeface="Roboto Bold"/>
                <a:ea typeface="Roboto Bold"/>
                <a:cs typeface="Roboto Bold"/>
                <a:sym typeface="Roboto Bold"/>
              </a:rPr>
              <a:t>us Linux (Debian/Ubuntu)</a:t>
            </a:r>
          </a:p>
          <a:p>
            <a:pPr algn="just" marL="453392" indent="-226696" lvl="1">
              <a:lnSpc>
                <a:spcPts val="2940"/>
              </a:lnSpc>
              <a:spcBef>
                <a:spcPct val="0"/>
              </a:spcBef>
              <a:buFont typeface="Arial"/>
              <a:buChar char="•"/>
            </a:pPr>
            <a:r>
              <a:rPr lang="en-US" sz="2100" strike="noStrike" u="none">
                <a:solidFill>
                  <a:srgbClr val="000000"/>
                </a:solidFill>
                <a:latin typeface="Roboto"/>
                <a:ea typeface="Roboto"/>
                <a:cs typeface="Roboto"/>
                <a:sym typeface="Roboto"/>
              </a:rPr>
              <a:t>wget -q -O - https://pkg.jenkins.io/debian/jenkins.io.key | sudo apt-key add -</a:t>
            </a:r>
          </a:p>
          <a:p>
            <a:pPr algn="just" marL="453392" indent="-226696" lvl="1">
              <a:lnSpc>
                <a:spcPts val="2940"/>
              </a:lnSpc>
              <a:spcBef>
                <a:spcPct val="0"/>
              </a:spcBef>
              <a:buFont typeface="Arial"/>
              <a:buChar char="•"/>
            </a:pPr>
            <a:r>
              <a:rPr lang="en-US" sz="2100" strike="noStrike" u="none">
                <a:solidFill>
                  <a:srgbClr val="000000"/>
                </a:solidFill>
                <a:latin typeface="Roboto"/>
                <a:ea typeface="Roboto"/>
                <a:cs typeface="Roboto"/>
                <a:sym typeface="Roboto"/>
              </a:rPr>
              <a:t>sudo sh -c 'echo deb https://pkg.jenkins.i</a:t>
            </a:r>
            <a:r>
              <a:rPr lang="en-US" sz="2100" strike="noStrike" u="none">
                <a:solidFill>
                  <a:srgbClr val="000000"/>
                </a:solidFill>
                <a:latin typeface="Roboto"/>
                <a:ea typeface="Roboto"/>
                <a:cs typeface="Roboto"/>
                <a:sym typeface="Roboto"/>
              </a:rPr>
              <a:t>o/debian binary/ &gt; /etc/apt/sources.list.d/jenkins.list'</a:t>
            </a:r>
          </a:p>
          <a:p>
            <a:pPr algn="just" marL="453392" indent="-226696" lvl="1">
              <a:lnSpc>
                <a:spcPts val="2940"/>
              </a:lnSpc>
              <a:spcBef>
                <a:spcPct val="0"/>
              </a:spcBef>
              <a:buFont typeface="Arial"/>
              <a:buChar char="•"/>
            </a:pPr>
            <a:r>
              <a:rPr lang="en-US" sz="2100" strike="noStrike" u="none">
                <a:solidFill>
                  <a:srgbClr val="000000"/>
                </a:solidFill>
                <a:latin typeface="Roboto"/>
                <a:ea typeface="Roboto"/>
                <a:cs typeface="Roboto"/>
                <a:sym typeface="Roboto"/>
              </a:rPr>
              <a:t>sudo apt update</a:t>
            </a:r>
          </a:p>
          <a:p>
            <a:pPr algn="just" marL="453392" indent="-226696" lvl="1">
              <a:lnSpc>
                <a:spcPts val="2940"/>
              </a:lnSpc>
              <a:spcBef>
                <a:spcPct val="0"/>
              </a:spcBef>
              <a:buFont typeface="Arial"/>
              <a:buChar char="•"/>
            </a:pPr>
            <a:r>
              <a:rPr lang="en-US" sz="2100" strike="noStrike" u="none">
                <a:solidFill>
                  <a:srgbClr val="000000"/>
                </a:solidFill>
                <a:latin typeface="Roboto"/>
                <a:ea typeface="Roboto"/>
                <a:cs typeface="Roboto"/>
                <a:sym typeface="Roboto"/>
              </a:rPr>
              <a:t>sudo apt install jenkins</a:t>
            </a:r>
          </a:p>
          <a:p>
            <a:pPr algn="just" marL="453392" indent="-226696" lvl="1">
              <a:lnSpc>
                <a:spcPts val="2940"/>
              </a:lnSpc>
              <a:spcBef>
                <a:spcPct val="0"/>
              </a:spcBef>
              <a:buFont typeface="Arial"/>
              <a:buChar char="•"/>
            </a:pPr>
            <a:r>
              <a:rPr lang="en-US" sz="2100" strike="noStrike" u="none">
                <a:solidFill>
                  <a:srgbClr val="000000"/>
                </a:solidFill>
                <a:latin typeface="Roboto"/>
                <a:ea typeface="Roboto"/>
                <a:cs typeface="Roboto"/>
                <a:sym typeface="Roboto"/>
              </a:rPr>
              <a:t>sudo systemctl start jenkins</a:t>
            </a:r>
          </a:p>
        </p:txBody>
      </p:sp>
      <p:sp>
        <p:nvSpPr>
          <p:cNvPr name="TextBox 23" id="23"/>
          <p:cNvSpPr txBox="true"/>
          <p:nvPr/>
        </p:nvSpPr>
        <p:spPr>
          <a:xfrm rot="0">
            <a:off x="10332770" y="2907076"/>
            <a:ext cx="6926530" cy="1479920"/>
          </a:xfrm>
          <a:prstGeom prst="rect">
            <a:avLst/>
          </a:prstGeom>
        </p:spPr>
        <p:txBody>
          <a:bodyPr anchor="t" rtlCol="false" tIns="0" lIns="0" bIns="0" rIns="0">
            <a:spAutoFit/>
          </a:bodyPr>
          <a:lstStyle/>
          <a:p>
            <a:pPr algn="just" marL="0" indent="0" lvl="0">
              <a:lnSpc>
                <a:spcPts val="2940"/>
              </a:lnSpc>
              <a:spcBef>
                <a:spcPct val="0"/>
              </a:spcBef>
            </a:pPr>
            <a:r>
              <a:rPr lang="en-US" b="true" sz="2100">
                <a:solidFill>
                  <a:srgbClr val="000000"/>
                </a:solidFill>
                <a:latin typeface="Roboto Bold"/>
                <a:ea typeface="Roboto Bold"/>
                <a:cs typeface="Roboto Bold"/>
                <a:sym typeface="Roboto Bold"/>
              </a:rPr>
              <a:t>🌐 Accè</a:t>
            </a:r>
            <a:r>
              <a:rPr lang="en-US" b="true" sz="2100" strike="noStrike" u="none">
                <a:solidFill>
                  <a:srgbClr val="000000"/>
                </a:solidFill>
                <a:latin typeface="Roboto Bold"/>
                <a:ea typeface="Roboto Bold"/>
                <a:cs typeface="Roboto Bold"/>
                <a:sym typeface="Roboto Bold"/>
              </a:rPr>
              <a:t>s Web</a:t>
            </a:r>
          </a:p>
          <a:p>
            <a:pPr algn="just" marL="453392" indent="-226696" lvl="1">
              <a:lnSpc>
                <a:spcPts val="2940"/>
              </a:lnSpc>
              <a:spcBef>
                <a:spcPct val="0"/>
              </a:spcBef>
              <a:buFont typeface="Arial"/>
              <a:buChar char="•"/>
            </a:pPr>
            <a:r>
              <a:rPr lang="en-US" sz="2100" strike="noStrike" u="none">
                <a:solidFill>
                  <a:srgbClr val="000000"/>
                </a:solidFill>
                <a:latin typeface="Roboto"/>
                <a:ea typeface="Roboto"/>
                <a:cs typeface="Roboto"/>
                <a:sym typeface="Roboto"/>
              </a:rPr>
              <a:t>Naviguer vers http://localhost:8080</a:t>
            </a:r>
          </a:p>
          <a:p>
            <a:pPr algn="just" marL="453392" indent="-226696" lvl="1">
              <a:lnSpc>
                <a:spcPts val="2940"/>
              </a:lnSpc>
              <a:spcBef>
                <a:spcPct val="0"/>
              </a:spcBef>
              <a:buFont typeface="Arial"/>
              <a:buChar char="•"/>
            </a:pPr>
            <a:r>
              <a:rPr lang="en-US" sz="2100" strike="noStrike" u="none">
                <a:solidFill>
                  <a:srgbClr val="000000"/>
                </a:solidFill>
                <a:latin typeface="Roboto"/>
                <a:ea typeface="Roboto"/>
                <a:cs typeface="Roboto"/>
                <a:sym typeface="Roboto"/>
              </a:rPr>
              <a:t>Entrer le mot de passe initial (généré au lancement)</a:t>
            </a:r>
          </a:p>
          <a:p>
            <a:pPr algn="just" marL="453392" indent="-226696" lvl="1">
              <a:lnSpc>
                <a:spcPts val="2940"/>
              </a:lnSpc>
              <a:spcBef>
                <a:spcPct val="0"/>
              </a:spcBef>
              <a:buFont typeface="Arial"/>
              <a:buChar char="•"/>
            </a:pPr>
            <a:r>
              <a:rPr lang="en-US" sz="2100" strike="noStrike" u="none">
                <a:solidFill>
                  <a:srgbClr val="000000"/>
                </a:solidFill>
                <a:latin typeface="Roboto"/>
                <a:ea typeface="Roboto"/>
                <a:cs typeface="Roboto"/>
                <a:sym typeface="Roboto"/>
              </a:rPr>
              <a:t>Installer les plugins recommandés</a:t>
            </a:r>
          </a:p>
        </p:txBody>
      </p:sp>
      <p:sp>
        <p:nvSpPr>
          <p:cNvPr name="TextBox 24" id="24"/>
          <p:cNvSpPr txBox="true"/>
          <p:nvPr/>
        </p:nvSpPr>
        <p:spPr>
          <a:xfrm rot="0">
            <a:off x="1422821" y="8069458"/>
            <a:ext cx="4476089" cy="342900"/>
          </a:xfrm>
          <a:prstGeom prst="rect">
            <a:avLst/>
          </a:prstGeom>
        </p:spPr>
        <p:txBody>
          <a:bodyPr anchor="t" rtlCol="false" tIns="0" lIns="0" bIns="0" rIns="0">
            <a:spAutoFit/>
          </a:bodyPr>
          <a:lstStyle/>
          <a:p>
            <a:pPr algn="ctr">
              <a:lnSpc>
                <a:spcPts val="2632"/>
              </a:lnSpc>
              <a:spcBef>
                <a:spcPct val="0"/>
              </a:spcBef>
            </a:pPr>
            <a:r>
              <a:rPr lang="en-US" b="true" sz="2193">
                <a:solidFill>
                  <a:srgbClr val="000000"/>
                </a:solidFill>
                <a:latin typeface="Quicksand Bold"/>
                <a:ea typeface="Quicksand Bold"/>
                <a:cs typeface="Quicksand Bold"/>
                <a:sym typeface="Quicksand Bold"/>
              </a:rPr>
              <a:t>👤 Création de l’utilisateur admin</a:t>
            </a:r>
          </a:p>
        </p:txBody>
      </p:sp>
      <p:sp>
        <p:nvSpPr>
          <p:cNvPr name="TextBox 25" id="25"/>
          <p:cNvSpPr txBox="true"/>
          <p:nvPr/>
        </p:nvSpPr>
        <p:spPr>
          <a:xfrm rot="0">
            <a:off x="7210638" y="8069458"/>
            <a:ext cx="4757208" cy="342900"/>
          </a:xfrm>
          <a:prstGeom prst="rect">
            <a:avLst/>
          </a:prstGeom>
        </p:spPr>
        <p:txBody>
          <a:bodyPr anchor="t" rtlCol="false" tIns="0" lIns="0" bIns="0" rIns="0">
            <a:spAutoFit/>
          </a:bodyPr>
          <a:lstStyle/>
          <a:p>
            <a:pPr algn="ctr">
              <a:lnSpc>
                <a:spcPts val="2632"/>
              </a:lnSpc>
              <a:spcBef>
                <a:spcPct val="0"/>
              </a:spcBef>
            </a:pPr>
            <a:r>
              <a:rPr lang="en-US" b="true" sz="2193">
                <a:solidFill>
                  <a:srgbClr val="000000"/>
                </a:solidFill>
                <a:latin typeface="Quicksand Bold"/>
                <a:ea typeface="Quicksand Bold"/>
                <a:cs typeface="Quicksand Bold"/>
                <a:sym typeface="Quicksand Bold"/>
              </a:rPr>
              <a:t>🧩</a:t>
            </a:r>
            <a:r>
              <a:rPr lang="en-US" b="true" sz="2193">
                <a:solidFill>
                  <a:srgbClr val="000000"/>
                </a:solidFill>
                <a:latin typeface="Quicksand Bold"/>
                <a:ea typeface="Quicksand Bold"/>
                <a:cs typeface="Quicksand Bold"/>
                <a:sym typeface="Quicksand Bold"/>
              </a:rPr>
              <a:t> Installation de plugins essentiels</a:t>
            </a:r>
          </a:p>
        </p:txBody>
      </p:sp>
      <p:sp>
        <p:nvSpPr>
          <p:cNvPr name="TextBox 26" id="26"/>
          <p:cNvSpPr txBox="true"/>
          <p:nvPr/>
        </p:nvSpPr>
        <p:spPr>
          <a:xfrm rot="0">
            <a:off x="13444613" y="8069458"/>
            <a:ext cx="3420567" cy="342900"/>
          </a:xfrm>
          <a:prstGeom prst="rect">
            <a:avLst/>
          </a:prstGeom>
        </p:spPr>
        <p:txBody>
          <a:bodyPr anchor="t" rtlCol="false" tIns="0" lIns="0" bIns="0" rIns="0">
            <a:spAutoFit/>
          </a:bodyPr>
          <a:lstStyle/>
          <a:p>
            <a:pPr algn="ctr">
              <a:lnSpc>
                <a:spcPts val="2632"/>
              </a:lnSpc>
              <a:spcBef>
                <a:spcPct val="0"/>
              </a:spcBef>
            </a:pPr>
            <a:r>
              <a:rPr lang="en-US" b="true" sz="2193">
                <a:solidFill>
                  <a:srgbClr val="000000"/>
                </a:solidFill>
                <a:latin typeface="Quicksand Bold"/>
                <a:ea typeface="Quicksand Bold"/>
                <a:cs typeface="Quicksand Bold"/>
                <a:sym typeface="Quicksand Bold"/>
              </a:rPr>
              <a:t>📁</a:t>
            </a:r>
            <a:r>
              <a:rPr lang="en-US" b="true" sz="2193">
                <a:solidFill>
                  <a:srgbClr val="000000"/>
                </a:solidFill>
                <a:latin typeface="Quicksand Bold"/>
                <a:ea typeface="Quicksand Bold"/>
                <a:cs typeface="Quicksand Bold"/>
                <a:sym typeface="Quicksand Bold"/>
              </a:rPr>
              <a:t> Configuration d’un job</a:t>
            </a:r>
          </a:p>
        </p:txBody>
      </p:sp>
      <p:sp>
        <p:nvSpPr>
          <p:cNvPr name="TextBox 27" id="2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11</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2227853" y="5989725"/>
            <a:ext cx="7389662" cy="1598798"/>
          </a:xfrm>
          <a:prstGeom prst="rect">
            <a:avLst/>
          </a:prstGeom>
        </p:spPr>
        <p:txBody>
          <a:bodyPr anchor="t" rtlCol="false" tIns="0" lIns="0" bIns="0" rIns="0">
            <a:spAutoFit/>
          </a:bodyPr>
          <a:lstStyle/>
          <a:p>
            <a:pPr algn="just">
              <a:lnSpc>
                <a:spcPts val="3220"/>
              </a:lnSpc>
            </a:pPr>
            <a:r>
              <a:rPr lang="en-US" sz="2300" b="true">
                <a:solidFill>
                  <a:srgbClr val="000000"/>
                </a:solidFill>
                <a:latin typeface="Roboto Bold"/>
                <a:ea typeface="Roboto Bold"/>
                <a:cs typeface="Roboto Bold"/>
                <a:sym typeface="Roboto Bold"/>
              </a:rPr>
              <a:t>Élément constitutif du pipeline </a:t>
            </a:r>
          </a:p>
          <a:p>
            <a:pPr algn="just" marL="496571" indent="-248285" lvl="1">
              <a:lnSpc>
                <a:spcPts val="3220"/>
              </a:lnSpc>
              <a:buFont typeface="Arial"/>
              <a:buChar char="•"/>
            </a:pPr>
            <a:r>
              <a:rPr lang="en-US" b="true" sz="2300">
                <a:solidFill>
                  <a:srgbClr val="000000"/>
                </a:solidFill>
                <a:latin typeface="Roboto Bold"/>
                <a:ea typeface="Roboto Bold"/>
                <a:cs typeface="Roboto Bold"/>
                <a:sym typeface="Roboto Bold"/>
              </a:rPr>
              <a:t>Node : agent Jenkins où s’exécutent les étapes</a:t>
            </a:r>
          </a:p>
          <a:p>
            <a:pPr algn="just" marL="496571" indent="-248285" lvl="1">
              <a:lnSpc>
                <a:spcPts val="3220"/>
              </a:lnSpc>
              <a:buFont typeface="Arial"/>
              <a:buChar char="•"/>
            </a:pPr>
            <a:r>
              <a:rPr lang="en-US" b="true" sz="2300">
                <a:solidFill>
                  <a:srgbClr val="000000"/>
                </a:solidFill>
                <a:latin typeface="Roboto Bold"/>
                <a:ea typeface="Roboto Bold"/>
                <a:cs typeface="Roboto Bold"/>
                <a:sym typeface="Roboto Bold"/>
              </a:rPr>
              <a:t>Stage : phase logique (ex. : Build / Test / Deploy)</a:t>
            </a:r>
          </a:p>
          <a:p>
            <a:pPr algn="just" marL="496571" indent="-248285" lvl="1">
              <a:lnSpc>
                <a:spcPts val="3220"/>
              </a:lnSpc>
              <a:buFont typeface="Arial"/>
              <a:buChar char="•"/>
            </a:pPr>
            <a:r>
              <a:rPr lang="en-US" b="true" sz="2300">
                <a:solidFill>
                  <a:srgbClr val="000000"/>
                </a:solidFill>
                <a:latin typeface="Roboto Bold"/>
                <a:ea typeface="Roboto Bold"/>
                <a:cs typeface="Roboto Bold"/>
                <a:sym typeface="Roboto Bold"/>
              </a:rPr>
              <a:t>Step : action concrète (ex. : sh 'npm test')</a:t>
            </a:r>
          </a:p>
        </p:txBody>
      </p:sp>
      <p:grpSp>
        <p:nvGrpSpPr>
          <p:cNvPr name="Group 12" id="12"/>
          <p:cNvGrpSpPr/>
          <p:nvPr/>
        </p:nvGrpSpPr>
        <p:grpSpPr>
          <a:xfrm rot="0">
            <a:off x="1165496" y="1169455"/>
            <a:ext cx="1064262" cy="1064262"/>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14" id="14"/>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8</a:t>
            </a:r>
          </a:p>
        </p:txBody>
      </p:sp>
      <p:sp>
        <p:nvSpPr>
          <p:cNvPr name="TextBox 15" id="15"/>
          <p:cNvSpPr txBox="true"/>
          <p:nvPr/>
        </p:nvSpPr>
        <p:spPr>
          <a:xfrm rot="0">
            <a:off x="2611243" y="1213301"/>
            <a:ext cx="6212398" cy="962280"/>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Cré</a:t>
            </a:r>
            <a:r>
              <a:rPr lang="en-US" b="true" sz="3106">
                <a:solidFill>
                  <a:srgbClr val="000000"/>
                </a:solidFill>
                <a:latin typeface="Roboto Bold"/>
                <a:ea typeface="Roboto Bold"/>
                <a:cs typeface="Roboto Bold"/>
                <a:sym typeface="Roboto Bold"/>
              </a:rPr>
              <a:t>ation d’un pipeline d’intégration continue</a:t>
            </a:r>
          </a:p>
        </p:txBody>
      </p:sp>
      <p:sp>
        <p:nvSpPr>
          <p:cNvPr name="TextBox 16" id="16"/>
          <p:cNvSpPr txBox="true"/>
          <p:nvPr/>
        </p:nvSpPr>
        <p:spPr>
          <a:xfrm rot="0">
            <a:off x="1028700" y="9161007"/>
            <a:ext cx="6606248" cy="323924"/>
          </a:xfrm>
          <a:prstGeom prst="rect">
            <a:avLst/>
          </a:prstGeom>
        </p:spPr>
        <p:txBody>
          <a:bodyPr anchor="t" rtlCol="false" tIns="0" lIns="0" bIns="0" rIns="0">
            <a:spAutoFit/>
          </a:bodyPr>
          <a:lstStyle/>
          <a:p>
            <a:pPr algn="l">
              <a:lnSpc>
                <a:spcPts val="2520"/>
              </a:lnSpc>
            </a:pPr>
            <a:r>
              <a:rPr lang="en-US" sz="2100" b="true">
                <a:solidFill>
                  <a:srgbClr val="000000"/>
                </a:solidFill>
                <a:latin typeface="Quicksand Medium"/>
                <a:ea typeface="Quicksand Medium"/>
                <a:cs typeface="Quicksand Medium"/>
                <a:sym typeface="Quicksand Medium"/>
              </a:rPr>
              <a:t>Mise</a:t>
            </a:r>
            <a:r>
              <a:rPr lang="en-US" sz="2100" b="true">
                <a:solidFill>
                  <a:srgbClr val="000000"/>
                </a:solidFill>
                <a:latin typeface="Quicksand Medium"/>
                <a:ea typeface="Quicksand Medium"/>
                <a:cs typeface="Quicksand Medium"/>
                <a:sym typeface="Quicksand Medium"/>
              </a:rPr>
              <a:t> en place de l'intégration continue avec Jenkins</a:t>
            </a:r>
          </a:p>
        </p:txBody>
      </p:sp>
      <p:sp>
        <p:nvSpPr>
          <p:cNvPr name="AutoShape 17" id="17"/>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TextBox 18" id="18"/>
          <p:cNvSpPr txBox="true"/>
          <p:nvPr/>
        </p:nvSpPr>
        <p:spPr>
          <a:xfrm rot="0">
            <a:off x="2227853" y="3271621"/>
            <a:ext cx="7607316" cy="1851329"/>
          </a:xfrm>
          <a:prstGeom prst="rect">
            <a:avLst/>
          </a:prstGeom>
        </p:spPr>
        <p:txBody>
          <a:bodyPr anchor="t" rtlCol="false" tIns="0" lIns="0" bIns="0" rIns="0">
            <a:spAutoFit/>
          </a:bodyPr>
          <a:lstStyle/>
          <a:p>
            <a:pPr algn="just" marL="0" indent="0" lvl="0">
              <a:lnSpc>
                <a:spcPts val="2940"/>
              </a:lnSpc>
              <a:spcBef>
                <a:spcPct val="0"/>
              </a:spcBef>
            </a:pPr>
            <a:r>
              <a:rPr lang="en-US" sz="2100">
                <a:solidFill>
                  <a:srgbClr val="000000"/>
                </a:solidFill>
                <a:latin typeface="Roboto"/>
                <a:ea typeface="Roboto"/>
                <a:cs typeface="Roboto"/>
                <a:sym typeface="Roboto"/>
              </a:rPr>
              <a:t>Le pipeline Jenkins est défini dans un fichier texte nommé Jenkinsfile. Celui-ci respecte une syntaxe stricte appelée Groovy. On y définit les différentes étapes de l’intégration continue que nous souhaitons implémenter (build, test, déploiement…).</a:t>
            </a:r>
          </a:p>
        </p:txBody>
      </p:sp>
      <p:sp>
        <p:nvSpPr>
          <p:cNvPr name="TextBox 19" id="19"/>
          <p:cNvSpPr txBox="true"/>
          <p:nvPr/>
        </p:nvSpPr>
        <p:spPr>
          <a:xfrm rot="0">
            <a:off x="12443115" y="2833067"/>
            <a:ext cx="4207494" cy="5194009"/>
          </a:xfrm>
          <a:prstGeom prst="rect">
            <a:avLst/>
          </a:prstGeom>
        </p:spPr>
        <p:txBody>
          <a:bodyPr anchor="t" rtlCol="false" tIns="0" lIns="0" bIns="0" rIns="0">
            <a:spAutoFit/>
          </a:bodyPr>
          <a:lstStyle/>
          <a:p>
            <a:pPr algn="just">
              <a:lnSpc>
                <a:spcPts val="2940"/>
              </a:lnSpc>
            </a:pPr>
            <a:r>
              <a:rPr lang="en-US" sz="2100" b="true">
                <a:solidFill>
                  <a:srgbClr val="000000"/>
                </a:solidFill>
                <a:latin typeface="Roboto Bold"/>
                <a:ea typeface="Roboto Bold"/>
                <a:cs typeface="Roboto Bold"/>
                <a:sym typeface="Roboto Bold"/>
              </a:rPr>
              <a:t>pipeline {</a:t>
            </a:r>
          </a:p>
          <a:p>
            <a:pPr algn="just">
              <a:lnSpc>
                <a:spcPts val="2940"/>
              </a:lnSpc>
            </a:pPr>
            <a:r>
              <a:rPr lang="en-US" sz="2100" b="true">
                <a:solidFill>
                  <a:srgbClr val="000000"/>
                </a:solidFill>
                <a:latin typeface="Roboto Bold"/>
                <a:ea typeface="Roboto Bold"/>
                <a:cs typeface="Roboto Bold"/>
                <a:sym typeface="Roboto Bold"/>
              </a:rPr>
              <a:t>  agent any</a:t>
            </a:r>
          </a:p>
          <a:p>
            <a:pPr algn="just">
              <a:lnSpc>
                <a:spcPts val="2940"/>
              </a:lnSpc>
            </a:pPr>
            <a:r>
              <a:rPr lang="en-US" sz="2100" b="true">
                <a:solidFill>
                  <a:srgbClr val="000000"/>
                </a:solidFill>
                <a:latin typeface="Roboto Bold"/>
                <a:ea typeface="Roboto Bold"/>
                <a:cs typeface="Roboto Bold"/>
                <a:sym typeface="Roboto Bold"/>
              </a:rPr>
              <a:t>  stages {</a:t>
            </a:r>
          </a:p>
          <a:p>
            <a:pPr algn="just">
              <a:lnSpc>
                <a:spcPts val="2940"/>
              </a:lnSpc>
            </a:pPr>
            <a:r>
              <a:rPr lang="en-US" sz="2100" b="true">
                <a:solidFill>
                  <a:srgbClr val="000000"/>
                </a:solidFill>
                <a:latin typeface="Roboto Bold"/>
                <a:ea typeface="Roboto Bold"/>
                <a:cs typeface="Roboto Bold"/>
                <a:sym typeface="Roboto Bold"/>
              </a:rPr>
              <a:t>    stage('Build') {</a:t>
            </a:r>
          </a:p>
          <a:p>
            <a:pPr algn="just">
              <a:lnSpc>
                <a:spcPts val="2940"/>
              </a:lnSpc>
            </a:pPr>
            <a:r>
              <a:rPr lang="en-US" sz="2100" b="true">
                <a:solidFill>
                  <a:srgbClr val="000000"/>
                </a:solidFill>
                <a:latin typeface="Roboto Bold"/>
                <a:ea typeface="Roboto Bold"/>
                <a:cs typeface="Roboto Bold"/>
                <a:sym typeface="Roboto Bold"/>
              </a:rPr>
              <a:t>      steps { sh 'make' }</a:t>
            </a:r>
          </a:p>
          <a:p>
            <a:pPr algn="just">
              <a:lnSpc>
                <a:spcPts val="2940"/>
              </a:lnSpc>
            </a:pPr>
            <a:r>
              <a:rPr lang="en-US" sz="2100" b="true">
                <a:solidFill>
                  <a:srgbClr val="000000"/>
                </a:solidFill>
                <a:latin typeface="Roboto Bold"/>
                <a:ea typeface="Roboto Bold"/>
                <a:cs typeface="Roboto Bold"/>
                <a:sym typeface="Roboto Bold"/>
              </a:rPr>
              <a:t>    }</a:t>
            </a:r>
          </a:p>
          <a:p>
            <a:pPr algn="just">
              <a:lnSpc>
                <a:spcPts val="2940"/>
              </a:lnSpc>
            </a:pPr>
            <a:r>
              <a:rPr lang="en-US" sz="2100" b="true">
                <a:solidFill>
                  <a:srgbClr val="000000"/>
                </a:solidFill>
                <a:latin typeface="Roboto Bold"/>
                <a:ea typeface="Roboto Bold"/>
                <a:cs typeface="Roboto Bold"/>
                <a:sym typeface="Roboto Bold"/>
              </a:rPr>
              <a:t>    stage('Test') {</a:t>
            </a:r>
          </a:p>
          <a:p>
            <a:pPr algn="just">
              <a:lnSpc>
                <a:spcPts val="2940"/>
              </a:lnSpc>
            </a:pPr>
            <a:r>
              <a:rPr lang="en-US" sz="2100" b="true">
                <a:solidFill>
                  <a:srgbClr val="000000"/>
                </a:solidFill>
                <a:latin typeface="Roboto Bold"/>
                <a:ea typeface="Roboto Bold"/>
                <a:cs typeface="Roboto Bold"/>
                <a:sym typeface="Roboto Bold"/>
              </a:rPr>
              <a:t>      steps { </a:t>
            </a:r>
          </a:p>
          <a:p>
            <a:pPr algn="just">
              <a:lnSpc>
                <a:spcPts val="2940"/>
              </a:lnSpc>
            </a:pPr>
            <a:r>
              <a:rPr lang="en-US" sz="2100" b="true">
                <a:solidFill>
                  <a:srgbClr val="000000"/>
                </a:solidFill>
                <a:latin typeface="Roboto Bold"/>
                <a:ea typeface="Roboto Bold"/>
                <a:cs typeface="Roboto Bold"/>
                <a:sym typeface="Roboto Bold"/>
              </a:rPr>
              <a:t>        sh 'make check'</a:t>
            </a:r>
          </a:p>
          <a:p>
            <a:pPr algn="just">
              <a:lnSpc>
                <a:spcPts val="2940"/>
              </a:lnSpc>
            </a:pPr>
            <a:r>
              <a:rPr lang="en-US" sz="2100" b="true">
                <a:solidFill>
                  <a:srgbClr val="000000"/>
                </a:solidFill>
                <a:latin typeface="Roboto Bold"/>
                <a:ea typeface="Roboto Bold"/>
                <a:cs typeface="Roboto Bold"/>
                <a:sym typeface="Roboto Bold"/>
              </a:rPr>
              <a:t>        junit 'reports/**/*.xml'</a:t>
            </a:r>
          </a:p>
          <a:p>
            <a:pPr algn="just">
              <a:lnSpc>
                <a:spcPts val="2940"/>
              </a:lnSpc>
            </a:pPr>
            <a:r>
              <a:rPr lang="en-US" sz="2100" b="true">
                <a:solidFill>
                  <a:srgbClr val="000000"/>
                </a:solidFill>
                <a:latin typeface="Roboto Bold"/>
                <a:ea typeface="Roboto Bold"/>
                <a:cs typeface="Roboto Bold"/>
                <a:sym typeface="Roboto Bold"/>
              </a:rPr>
              <a:t>      }</a:t>
            </a:r>
          </a:p>
          <a:p>
            <a:pPr algn="just">
              <a:lnSpc>
                <a:spcPts val="2940"/>
              </a:lnSpc>
            </a:pPr>
            <a:r>
              <a:rPr lang="en-US" sz="2100" b="true">
                <a:solidFill>
                  <a:srgbClr val="000000"/>
                </a:solidFill>
                <a:latin typeface="Roboto Bold"/>
                <a:ea typeface="Roboto Bold"/>
                <a:cs typeface="Roboto Bold"/>
                <a:sym typeface="Roboto Bold"/>
              </a:rPr>
              <a:t>    }</a:t>
            </a:r>
          </a:p>
          <a:p>
            <a:pPr algn="just">
              <a:lnSpc>
                <a:spcPts val="2940"/>
              </a:lnSpc>
            </a:pPr>
            <a:r>
              <a:rPr lang="en-US" sz="2100" b="true">
                <a:solidFill>
                  <a:srgbClr val="000000"/>
                </a:solidFill>
                <a:latin typeface="Roboto Bold"/>
                <a:ea typeface="Roboto Bold"/>
                <a:cs typeface="Roboto Bold"/>
                <a:sym typeface="Roboto Bold"/>
              </a:rPr>
              <a:t>  }</a:t>
            </a:r>
          </a:p>
          <a:p>
            <a:pPr algn="just" marL="0" indent="0" lvl="0">
              <a:lnSpc>
                <a:spcPts val="2940"/>
              </a:lnSpc>
              <a:spcBef>
                <a:spcPct val="0"/>
              </a:spcBef>
            </a:pPr>
            <a:r>
              <a:rPr lang="en-US" b="true" sz="2100">
                <a:solidFill>
                  <a:srgbClr val="000000"/>
                </a:solidFill>
                <a:latin typeface="Roboto Bold"/>
                <a:ea typeface="Roboto Bold"/>
                <a:cs typeface="Roboto Bold"/>
                <a:sym typeface="Roboto Bold"/>
              </a:rPr>
              <a:t>}</a:t>
            </a:r>
          </a:p>
        </p:txBody>
      </p:sp>
      <p:sp>
        <p:nvSpPr>
          <p:cNvPr name="TextBox 20" id="20"/>
          <p:cNvSpPr txBox="true"/>
          <p:nvPr/>
        </p:nvSpPr>
        <p:spPr>
          <a:xfrm rot="0">
            <a:off x="12140957" y="8433001"/>
            <a:ext cx="4355519" cy="342900"/>
          </a:xfrm>
          <a:prstGeom prst="rect">
            <a:avLst/>
          </a:prstGeom>
        </p:spPr>
        <p:txBody>
          <a:bodyPr anchor="t" rtlCol="false" tIns="0" lIns="0" bIns="0" rIns="0">
            <a:spAutoFit/>
          </a:bodyPr>
          <a:lstStyle/>
          <a:p>
            <a:pPr algn="ctr">
              <a:lnSpc>
                <a:spcPts val="2632"/>
              </a:lnSpc>
              <a:spcBef>
                <a:spcPct val="0"/>
              </a:spcBef>
            </a:pPr>
            <a:r>
              <a:rPr lang="en-US" b="true" sz="2193">
                <a:solidFill>
                  <a:srgbClr val="000000"/>
                </a:solidFill>
                <a:latin typeface="Quicksand Bold"/>
                <a:ea typeface="Quicksand Bold"/>
                <a:cs typeface="Quicksand Bold"/>
                <a:sym typeface="Quicksand Bold"/>
              </a:rPr>
              <a:t>🧩 Pipeline déclaratif en groovy</a:t>
            </a:r>
          </a:p>
        </p:txBody>
      </p:sp>
      <p:sp>
        <p:nvSpPr>
          <p:cNvPr name="AutoShape 21" id="21"/>
          <p:cNvSpPr/>
          <p:nvPr/>
        </p:nvSpPr>
        <p:spPr>
          <a:xfrm>
            <a:off x="11140095" y="2766060"/>
            <a:ext cx="0" cy="6492240"/>
          </a:xfrm>
          <a:prstGeom prst="line">
            <a:avLst/>
          </a:prstGeom>
          <a:ln cap="flat" w="38100">
            <a:solidFill>
              <a:srgbClr val="FFBD59"/>
            </a:solidFill>
            <a:prstDash val="solid"/>
            <a:headEnd type="none" len="sm" w="sm"/>
            <a:tailEnd type="none" len="sm" w="sm"/>
          </a:ln>
        </p:spPr>
      </p:sp>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12</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165496" y="1169455"/>
            <a:ext cx="1064262" cy="1064262"/>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AutoShape 13" id="13"/>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Freeform 14" id="14"/>
          <p:cNvSpPr/>
          <p:nvPr/>
        </p:nvSpPr>
        <p:spPr>
          <a:xfrm flipH="false" flipV="false" rot="0">
            <a:off x="3108521" y="2800402"/>
            <a:ext cx="11301259" cy="5353971"/>
          </a:xfrm>
          <a:custGeom>
            <a:avLst/>
            <a:gdLst/>
            <a:ahLst/>
            <a:cxnLst/>
            <a:rect r="r" b="b" t="t" l="l"/>
            <a:pathLst>
              <a:path h="5353971" w="11301259">
                <a:moveTo>
                  <a:pt x="0" y="0"/>
                </a:moveTo>
                <a:lnTo>
                  <a:pt x="11301259" y="0"/>
                </a:lnTo>
                <a:lnTo>
                  <a:pt x="11301259" y="5353972"/>
                </a:lnTo>
                <a:lnTo>
                  <a:pt x="0" y="5353972"/>
                </a:lnTo>
                <a:lnTo>
                  <a:pt x="0" y="0"/>
                </a:lnTo>
                <a:close/>
              </a:path>
            </a:pathLst>
          </a:custGeom>
          <a:blipFill>
            <a:blip r:embed="rId4"/>
            <a:stretch>
              <a:fillRect l="0" t="0" r="0" b="0"/>
            </a:stretch>
          </a:blipFill>
        </p:spPr>
      </p:sp>
      <p:sp>
        <p:nvSpPr>
          <p:cNvPr name="TextBox 15" id="15"/>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9</a:t>
            </a:r>
          </a:p>
        </p:txBody>
      </p:sp>
      <p:sp>
        <p:nvSpPr>
          <p:cNvPr name="TextBox 16" id="16"/>
          <p:cNvSpPr txBox="true"/>
          <p:nvPr/>
        </p:nvSpPr>
        <p:spPr>
          <a:xfrm rot="0">
            <a:off x="2611243" y="1213301"/>
            <a:ext cx="6212398" cy="962280"/>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Automatis</a:t>
            </a:r>
            <a:r>
              <a:rPr lang="en-US" b="true" sz="3106">
                <a:solidFill>
                  <a:srgbClr val="000000"/>
                </a:solidFill>
                <a:latin typeface="Roboto Bold"/>
                <a:ea typeface="Roboto Bold"/>
                <a:cs typeface="Roboto Bold"/>
                <a:sym typeface="Roboto Bold"/>
              </a:rPr>
              <a:t>ation du build, des tests et du déploiement</a:t>
            </a:r>
          </a:p>
        </p:txBody>
      </p:sp>
      <p:sp>
        <p:nvSpPr>
          <p:cNvPr name="TextBox 17" id="17"/>
          <p:cNvSpPr txBox="true"/>
          <p:nvPr/>
        </p:nvSpPr>
        <p:spPr>
          <a:xfrm rot="0">
            <a:off x="1047750" y="9161007"/>
            <a:ext cx="6606248" cy="323924"/>
          </a:xfrm>
          <a:prstGeom prst="rect">
            <a:avLst/>
          </a:prstGeom>
        </p:spPr>
        <p:txBody>
          <a:bodyPr anchor="t" rtlCol="false" tIns="0" lIns="0" bIns="0" rIns="0">
            <a:spAutoFit/>
          </a:bodyPr>
          <a:lstStyle/>
          <a:p>
            <a:pPr algn="l">
              <a:lnSpc>
                <a:spcPts val="2520"/>
              </a:lnSpc>
            </a:pPr>
            <a:r>
              <a:rPr lang="en-US" sz="2100" b="true">
                <a:solidFill>
                  <a:srgbClr val="000000"/>
                </a:solidFill>
                <a:latin typeface="Quicksand Medium"/>
                <a:ea typeface="Quicksand Medium"/>
                <a:cs typeface="Quicksand Medium"/>
                <a:sym typeface="Quicksand Medium"/>
              </a:rPr>
              <a:t>Mise</a:t>
            </a:r>
            <a:r>
              <a:rPr lang="en-US" sz="2100" b="true">
                <a:solidFill>
                  <a:srgbClr val="000000"/>
                </a:solidFill>
                <a:latin typeface="Quicksand Medium"/>
                <a:ea typeface="Quicksand Medium"/>
                <a:cs typeface="Quicksand Medium"/>
                <a:sym typeface="Quicksand Medium"/>
              </a:rPr>
              <a:t> en place de l'intégration continue avec Jenkins</a:t>
            </a:r>
          </a:p>
        </p:txBody>
      </p:sp>
      <p:sp>
        <p:nvSpPr>
          <p:cNvPr name="TextBox 18" id="18"/>
          <p:cNvSpPr txBox="true"/>
          <p:nvPr/>
        </p:nvSpPr>
        <p:spPr>
          <a:xfrm rot="0">
            <a:off x="6841546" y="8305016"/>
            <a:ext cx="4604908" cy="342900"/>
          </a:xfrm>
          <a:prstGeom prst="rect">
            <a:avLst/>
          </a:prstGeom>
        </p:spPr>
        <p:txBody>
          <a:bodyPr anchor="t" rtlCol="false" tIns="0" lIns="0" bIns="0" rIns="0">
            <a:spAutoFit/>
          </a:bodyPr>
          <a:lstStyle/>
          <a:p>
            <a:pPr algn="ctr">
              <a:lnSpc>
                <a:spcPts val="2632"/>
              </a:lnSpc>
              <a:spcBef>
                <a:spcPct val="0"/>
              </a:spcBef>
            </a:pPr>
            <a:r>
              <a:rPr lang="en-US" b="true" sz="2193">
                <a:solidFill>
                  <a:srgbClr val="000000"/>
                </a:solidFill>
                <a:latin typeface="Quicksand Bold"/>
                <a:ea typeface="Quicksand Bold"/>
                <a:cs typeface="Quicksand Bold"/>
                <a:sym typeface="Quicksand Bold"/>
              </a:rPr>
              <a:t>Élément</a:t>
            </a:r>
            <a:r>
              <a:rPr lang="en-US" b="true" sz="2193">
                <a:solidFill>
                  <a:srgbClr val="000000"/>
                </a:solidFill>
                <a:latin typeface="Quicksand Bold"/>
                <a:ea typeface="Quicksand Bold"/>
                <a:cs typeface="Quicksand Bold"/>
                <a:sym typeface="Quicksand Bold"/>
              </a:rPr>
              <a:t> constitutif du pipeline  [3]</a:t>
            </a:r>
          </a:p>
        </p:txBody>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13</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165496" y="1169455"/>
            <a:ext cx="1064262" cy="1064262"/>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AutoShape 13" id="13"/>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Freeform 14" id="14"/>
          <p:cNvSpPr/>
          <p:nvPr/>
        </p:nvSpPr>
        <p:spPr>
          <a:xfrm flipH="false" flipV="false" rot="0">
            <a:off x="2766147" y="2549826"/>
            <a:ext cx="4438801" cy="2383800"/>
          </a:xfrm>
          <a:custGeom>
            <a:avLst/>
            <a:gdLst/>
            <a:ahLst/>
            <a:cxnLst/>
            <a:rect r="r" b="b" t="t" l="l"/>
            <a:pathLst>
              <a:path h="2383800" w="4438801">
                <a:moveTo>
                  <a:pt x="0" y="0"/>
                </a:moveTo>
                <a:lnTo>
                  <a:pt x="4438800" y="0"/>
                </a:lnTo>
                <a:lnTo>
                  <a:pt x="4438800" y="2383801"/>
                </a:lnTo>
                <a:lnTo>
                  <a:pt x="0" y="2383801"/>
                </a:lnTo>
                <a:lnTo>
                  <a:pt x="0" y="0"/>
                </a:lnTo>
                <a:close/>
              </a:path>
            </a:pathLst>
          </a:custGeom>
          <a:blipFill>
            <a:blip r:embed="rId4"/>
            <a:stretch>
              <a:fillRect l="0" t="0" r="0" b="0"/>
            </a:stretch>
          </a:blipFill>
        </p:spPr>
      </p:sp>
      <p:sp>
        <p:nvSpPr>
          <p:cNvPr name="Freeform 15" id="15"/>
          <p:cNvSpPr/>
          <p:nvPr/>
        </p:nvSpPr>
        <p:spPr>
          <a:xfrm flipH="false" flipV="false" rot="0">
            <a:off x="2766147" y="5245849"/>
            <a:ext cx="4438801" cy="3058431"/>
          </a:xfrm>
          <a:custGeom>
            <a:avLst/>
            <a:gdLst/>
            <a:ahLst/>
            <a:cxnLst/>
            <a:rect r="r" b="b" t="t" l="l"/>
            <a:pathLst>
              <a:path h="3058431" w="4438801">
                <a:moveTo>
                  <a:pt x="0" y="0"/>
                </a:moveTo>
                <a:lnTo>
                  <a:pt x="4438800" y="0"/>
                </a:lnTo>
                <a:lnTo>
                  <a:pt x="4438800" y="3058431"/>
                </a:lnTo>
                <a:lnTo>
                  <a:pt x="0" y="3058431"/>
                </a:lnTo>
                <a:lnTo>
                  <a:pt x="0" y="0"/>
                </a:lnTo>
                <a:close/>
              </a:path>
            </a:pathLst>
          </a:custGeom>
          <a:blipFill>
            <a:blip r:embed="rId5"/>
            <a:stretch>
              <a:fillRect l="0" t="-26106" r="0" b="0"/>
            </a:stretch>
          </a:blipFill>
        </p:spPr>
      </p:sp>
      <p:sp>
        <p:nvSpPr>
          <p:cNvPr name="Freeform 16" id="16"/>
          <p:cNvSpPr/>
          <p:nvPr/>
        </p:nvSpPr>
        <p:spPr>
          <a:xfrm flipH="false" flipV="false" rot="5400000">
            <a:off x="4733572" y="4989718"/>
            <a:ext cx="503949" cy="273392"/>
          </a:xfrm>
          <a:custGeom>
            <a:avLst/>
            <a:gdLst/>
            <a:ahLst/>
            <a:cxnLst/>
            <a:rect r="r" b="b" t="t" l="l"/>
            <a:pathLst>
              <a:path h="273392" w="503949">
                <a:moveTo>
                  <a:pt x="0" y="0"/>
                </a:moveTo>
                <a:lnTo>
                  <a:pt x="503950" y="0"/>
                </a:lnTo>
                <a:lnTo>
                  <a:pt x="503950" y="273393"/>
                </a:lnTo>
                <a:lnTo>
                  <a:pt x="0" y="2733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8809649" y="2708760"/>
            <a:ext cx="7031989" cy="1952081"/>
          </a:xfrm>
          <a:prstGeom prst="rect">
            <a:avLst/>
          </a:prstGeom>
        </p:spPr>
        <p:txBody>
          <a:bodyPr anchor="t" rtlCol="false" tIns="0" lIns="0" bIns="0" rIns="0">
            <a:spAutoFit/>
          </a:bodyPr>
          <a:lstStyle/>
          <a:p>
            <a:pPr algn="l" marL="0" indent="0" lvl="0">
              <a:lnSpc>
                <a:spcPts val="3091"/>
              </a:lnSpc>
              <a:spcBef>
                <a:spcPct val="0"/>
              </a:spcBef>
            </a:pPr>
            <a:r>
              <a:rPr lang="en-US" b="true" sz="2576" strike="noStrike" u="none">
                <a:solidFill>
                  <a:srgbClr val="000000"/>
                </a:solidFill>
                <a:latin typeface="Quicksand Medium"/>
                <a:ea typeface="Quicksand Medium"/>
                <a:cs typeface="Quicksand Medium"/>
                <a:sym typeface="Quicksand Medium"/>
              </a:rPr>
              <a:t>Les plugins Jenkins font parties intégrantes de l’environnement Jenkins, ce sont des petits programmes indépendants qui permettent d’améliorer et d’attendre les fonctionnalités de Jenkins.</a:t>
            </a:r>
          </a:p>
        </p:txBody>
      </p:sp>
      <p:sp>
        <p:nvSpPr>
          <p:cNvPr name="TextBox 18" id="18"/>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10</a:t>
            </a:r>
          </a:p>
        </p:txBody>
      </p:sp>
      <p:sp>
        <p:nvSpPr>
          <p:cNvPr name="TextBox 19" id="19"/>
          <p:cNvSpPr txBox="true"/>
          <p:nvPr/>
        </p:nvSpPr>
        <p:spPr>
          <a:xfrm rot="0">
            <a:off x="2597252" y="1446728"/>
            <a:ext cx="6212398" cy="490665"/>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Plugi</a:t>
            </a:r>
            <a:r>
              <a:rPr lang="en-US" b="true" sz="3106">
                <a:solidFill>
                  <a:srgbClr val="000000"/>
                </a:solidFill>
                <a:latin typeface="Roboto Bold"/>
                <a:ea typeface="Roboto Bold"/>
                <a:cs typeface="Roboto Bold"/>
                <a:sym typeface="Roboto Bold"/>
              </a:rPr>
              <a:t>ns et extensions pour Jenkins</a:t>
            </a:r>
          </a:p>
        </p:txBody>
      </p:sp>
      <p:sp>
        <p:nvSpPr>
          <p:cNvPr name="TextBox 20" id="20"/>
          <p:cNvSpPr txBox="true"/>
          <p:nvPr/>
        </p:nvSpPr>
        <p:spPr>
          <a:xfrm rot="0">
            <a:off x="1028700" y="9161007"/>
            <a:ext cx="6606248" cy="323924"/>
          </a:xfrm>
          <a:prstGeom prst="rect">
            <a:avLst/>
          </a:prstGeom>
        </p:spPr>
        <p:txBody>
          <a:bodyPr anchor="t" rtlCol="false" tIns="0" lIns="0" bIns="0" rIns="0">
            <a:spAutoFit/>
          </a:bodyPr>
          <a:lstStyle/>
          <a:p>
            <a:pPr algn="l">
              <a:lnSpc>
                <a:spcPts val="2520"/>
              </a:lnSpc>
            </a:pPr>
            <a:r>
              <a:rPr lang="en-US" sz="2100" b="true">
                <a:solidFill>
                  <a:srgbClr val="000000"/>
                </a:solidFill>
                <a:latin typeface="Quicksand Medium"/>
                <a:ea typeface="Quicksand Medium"/>
                <a:cs typeface="Quicksand Medium"/>
                <a:sym typeface="Quicksand Medium"/>
              </a:rPr>
              <a:t>Mise</a:t>
            </a:r>
            <a:r>
              <a:rPr lang="en-US" sz="2100" b="true">
                <a:solidFill>
                  <a:srgbClr val="000000"/>
                </a:solidFill>
                <a:latin typeface="Quicksand Medium"/>
                <a:ea typeface="Quicksand Medium"/>
                <a:cs typeface="Quicksand Medium"/>
                <a:sym typeface="Quicksand Medium"/>
              </a:rPr>
              <a:t> en place de l'intégration continue avec Jenkins</a:t>
            </a:r>
          </a:p>
        </p:txBody>
      </p:sp>
      <p:sp>
        <p:nvSpPr>
          <p:cNvPr name="TextBox 21" id="21"/>
          <p:cNvSpPr txBox="true"/>
          <p:nvPr/>
        </p:nvSpPr>
        <p:spPr>
          <a:xfrm rot="0">
            <a:off x="8809649" y="5378389"/>
            <a:ext cx="4508378" cy="434958"/>
          </a:xfrm>
          <a:prstGeom prst="rect">
            <a:avLst/>
          </a:prstGeom>
        </p:spPr>
        <p:txBody>
          <a:bodyPr anchor="t" rtlCol="false" tIns="0" lIns="0" bIns="0" rIns="0">
            <a:spAutoFit/>
          </a:bodyPr>
          <a:lstStyle/>
          <a:p>
            <a:pPr algn="ctr">
              <a:lnSpc>
                <a:spcPts val="3513"/>
              </a:lnSpc>
              <a:spcBef>
                <a:spcPct val="0"/>
              </a:spcBef>
            </a:pPr>
            <a:r>
              <a:rPr lang="en-US" b="true" sz="2927">
                <a:solidFill>
                  <a:srgbClr val="000000"/>
                </a:solidFill>
                <a:latin typeface="Quicksand Bold"/>
                <a:ea typeface="Quicksand Bold"/>
                <a:cs typeface="Quicksand Bold"/>
                <a:sym typeface="Quicksand Bold"/>
              </a:rPr>
              <a:t>P</a:t>
            </a:r>
            <a:r>
              <a:rPr lang="en-US" b="true" sz="2927">
                <a:solidFill>
                  <a:srgbClr val="000000"/>
                </a:solidFill>
                <a:latin typeface="Quicksand Bold"/>
                <a:ea typeface="Quicksand Bold"/>
                <a:cs typeface="Quicksand Bold"/>
                <a:sym typeface="Quicksand Bold"/>
              </a:rPr>
              <a:t>lugins Jenkin populaires</a:t>
            </a:r>
          </a:p>
        </p:txBody>
      </p:sp>
      <p:sp>
        <p:nvSpPr>
          <p:cNvPr name="TextBox 22" id="22"/>
          <p:cNvSpPr txBox="true"/>
          <p:nvPr/>
        </p:nvSpPr>
        <p:spPr>
          <a:xfrm rot="0">
            <a:off x="9259519" y="6068819"/>
            <a:ext cx="7031989" cy="2141960"/>
          </a:xfrm>
          <a:prstGeom prst="rect">
            <a:avLst/>
          </a:prstGeom>
        </p:spPr>
        <p:txBody>
          <a:bodyPr anchor="t" rtlCol="false" tIns="0" lIns="0" bIns="0" rIns="0">
            <a:spAutoFit/>
          </a:bodyPr>
          <a:lstStyle/>
          <a:p>
            <a:pPr algn="l" marL="556251" indent="-278126" lvl="1">
              <a:lnSpc>
                <a:spcPts val="3400"/>
              </a:lnSpc>
              <a:buFont typeface="Arial"/>
              <a:buChar char="•"/>
            </a:pPr>
            <a:r>
              <a:rPr lang="en-US" b="true" sz="2576" strike="noStrike" u="none">
                <a:solidFill>
                  <a:srgbClr val="000000"/>
                </a:solidFill>
                <a:latin typeface="Quicksand Medium"/>
                <a:ea typeface="Quicksand Medium"/>
                <a:cs typeface="Quicksand Medium"/>
                <a:sym typeface="Quicksand Medium"/>
              </a:rPr>
              <a:t>Plugin Git</a:t>
            </a:r>
          </a:p>
          <a:p>
            <a:pPr algn="l" marL="556251" indent="-278126" lvl="1">
              <a:lnSpc>
                <a:spcPts val="3400"/>
              </a:lnSpc>
              <a:buFont typeface="Arial"/>
              <a:buChar char="•"/>
            </a:pPr>
            <a:r>
              <a:rPr lang="en-US" b="true" sz="2576" strike="noStrike" u="none">
                <a:solidFill>
                  <a:srgbClr val="000000"/>
                </a:solidFill>
                <a:latin typeface="Quicksand Medium"/>
                <a:ea typeface="Quicksand Medium"/>
                <a:cs typeface="Quicksand Medium"/>
                <a:sym typeface="Quicksand Medium"/>
              </a:rPr>
              <a:t>Plugin Docker</a:t>
            </a:r>
          </a:p>
          <a:p>
            <a:pPr algn="l" marL="556251" indent="-278126" lvl="1">
              <a:lnSpc>
                <a:spcPts val="3400"/>
              </a:lnSpc>
              <a:buFont typeface="Arial"/>
              <a:buChar char="•"/>
            </a:pPr>
            <a:r>
              <a:rPr lang="en-US" b="true" sz="2576" strike="noStrike" u="none">
                <a:solidFill>
                  <a:srgbClr val="000000"/>
                </a:solidFill>
                <a:latin typeface="Quicksand Medium"/>
                <a:ea typeface="Quicksand Medium"/>
                <a:cs typeface="Quicksand Medium"/>
                <a:sym typeface="Quicksand Medium"/>
              </a:rPr>
              <a:t>Plugin de pipeline</a:t>
            </a:r>
          </a:p>
          <a:p>
            <a:pPr algn="l" marL="556251" indent="-278126" lvl="1">
              <a:lnSpc>
                <a:spcPts val="3400"/>
              </a:lnSpc>
              <a:buFont typeface="Arial"/>
              <a:buChar char="•"/>
            </a:pPr>
            <a:r>
              <a:rPr lang="en-US" b="true" sz="2576" strike="noStrike" u="none">
                <a:solidFill>
                  <a:srgbClr val="000000"/>
                </a:solidFill>
                <a:latin typeface="Quicksand Medium"/>
                <a:ea typeface="Quicksand Medium"/>
                <a:cs typeface="Quicksand Medium"/>
                <a:sym typeface="Quicksand Medium"/>
              </a:rPr>
              <a:t>Plugin de métriques</a:t>
            </a:r>
          </a:p>
          <a:p>
            <a:pPr algn="l" marL="556251" indent="-278126" lvl="1">
              <a:lnSpc>
                <a:spcPts val="3400"/>
              </a:lnSpc>
              <a:buFont typeface="Arial"/>
              <a:buChar char="•"/>
            </a:pPr>
            <a:r>
              <a:rPr lang="en-US" b="true" sz="2576" strike="noStrike" u="none">
                <a:solidFill>
                  <a:srgbClr val="000000"/>
                </a:solidFill>
                <a:latin typeface="Quicksand Medium"/>
                <a:ea typeface="Quicksand Medium"/>
                <a:cs typeface="Quicksand Medium"/>
                <a:sym typeface="Quicksand Medium"/>
              </a:rPr>
              <a:t>Plugin Blue Ocean</a:t>
            </a:r>
          </a:p>
        </p:txBody>
      </p:sp>
      <p:sp>
        <p:nvSpPr>
          <p:cNvPr name="TextBox 23" id="2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14</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2611243" y="2524170"/>
            <a:ext cx="14039366" cy="1000125"/>
          </a:xfrm>
          <a:prstGeom prst="rect">
            <a:avLst/>
          </a:prstGeom>
        </p:spPr>
        <p:txBody>
          <a:bodyPr anchor="t" rtlCol="false" tIns="0" lIns="0" bIns="0" rIns="0">
            <a:spAutoFit/>
          </a:bodyPr>
          <a:lstStyle/>
          <a:p>
            <a:pPr algn="l">
              <a:lnSpc>
                <a:spcPts val="2640"/>
              </a:lnSpc>
            </a:pPr>
            <a:r>
              <a:rPr lang="en-US" sz="2200" b="true">
                <a:solidFill>
                  <a:srgbClr val="000000"/>
                </a:solidFill>
                <a:latin typeface="Quicksand Medium"/>
                <a:ea typeface="Quicksand Medium"/>
                <a:cs typeface="Quicksand Medium"/>
                <a:sym typeface="Quicksand Medium"/>
              </a:rPr>
              <a:t>L'i</a:t>
            </a:r>
            <a:r>
              <a:rPr lang="en-US" sz="2200" b="true">
                <a:solidFill>
                  <a:srgbClr val="000000"/>
                </a:solidFill>
                <a:latin typeface="Quicksand Medium"/>
                <a:ea typeface="Quicksand Medium"/>
                <a:cs typeface="Quicksand Medium"/>
                <a:sym typeface="Quicksand Medium"/>
              </a:rPr>
              <a:t>ntégration continue ne se limite pas à un concept : c’est une pratique concrète qui repose sur des outils et une organisation rigoureuse du processus de développement. Avant de passer à la démonstration, posons les bases.</a:t>
            </a:r>
          </a:p>
        </p:txBody>
      </p:sp>
      <p:grpSp>
        <p:nvGrpSpPr>
          <p:cNvPr name="Group 12" id="12"/>
          <p:cNvGrpSpPr/>
          <p:nvPr/>
        </p:nvGrpSpPr>
        <p:grpSpPr>
          <a:xfrm rot="0">
            <a:off x="1165496" y="1169455"/>
            <a:ext cx="1064262" cy="1064262"/>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14" id="14"/>
          <p:cNvSpPr txBox="true"/>
          <p:nvPr/>
        </p:nvSpPr>
        <p:spPr>
          <a:xfrm rot="0">
            <a:off x="1361520" y="1163555"/>
            <a:ext cx="868238" cy="964475"/>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11</a:t>
            </a:r>
          </a:p>
        </p:txBody>
      </p:sp>
      <p:sp>
        <p:nvSpPr>
          <p:cNvPr name="TextBox 15" id="15"/>
          <p:cNvSpPr txBox="true"/>
          <p:nvPr/>
        </p:nvSpPr>
        <p:spPr>
          <a:xfrm rot="0">
            <a:off x="2611243" y="1213301"/>
            <a:ext cx="6212398" cy="962280"/>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Mise en œuvre de l’Intégration Continue</a:t>
            </a:r>
          </a:p>
        </p:txBody>
      </p:sp>
      <p:sp>
        <p:nvSpPr>
          <p:cNvPr name="TextBox 16" id="16"/>
          <p:cNvSpPr txBox="true"/>
          <p:nvPr/>
        </p:nvSpPr>
        <p:spPr>
          <a:xfrm rot="0">
            <a:off x="2445327" y="4086104"/>
            <a:ext cx="5625434" cy="390525"/>
          </a:xfrm>
          <a:prstGeom prst="rect">
            <a:avLst/>
          </a:prstGeom>
        </p:spPr>
        <p:txBody>
          <a:bodyPr anchor="t" rtlCol="false" tIns="0" lIns="0" bIns="0" rIns="0">
            <a:spAutoFit/>
          </a:bodyPr>
          <a:lstStyle/>
          <a:p>
            <a:pPr algn="l">
              <a:lnSpc>
                <a:spcPts val="3068"/>
              </a:lnSpc>
            </a:pPr>
            <a:r>
              <a:rPr lang="en-US" b="true" sz="2557">
                <a:solidFill>
                  <a:srgbClr val="F03C2E"/>
                </a:solidFill>
                <a:latin typeface="Roboto Bold"/>
                <a:ea typeface="Roboto Bold"/>
                <a:cs typeface="Roboto Bold"/>
                <a:sym typeface="Roboto Bold"/>
              </a:rPr>
              <a:t>Les prérequis</a:t>
            </a:r>
          </a:p>
        </p:txBody>
      </p:sp>
      <p:sp>
        <p:nvSpPr>
          <p:cNvPr name="TextBox 17" id="17"/>
          <p:cNvSpPr txBox="true"/>
          <p:nvPr/>
        </p:nvSpPr>
        <p:spPr>
          <a:xfrm rot="0">
            <a:off x="10119227" y="4076745"/>
            <a:ext cx="5723446" cy="390525"/>
          </a:xfrm>
          <a:prstGeom prst="rect">
            <a:avLst/>
          </a:prstGeom>
        </p:spPr>
        <p:txBody>
          <a:bodyPr anchor="t" rtlCol="false" tIns="0" lIns="0" bIns="0" rIns="0">
            <a:spAutoFit/>
          </a:bodyPr>
          <a:lstStyle/>
          <a:p>
            <a:pPr algn="l">
              <a:lnSpc>
                <a:spcPts val="3068"/>
              </a:lnSpc>
            </a:pPr>
            <a:r>
              <a:rPr lang="en-US" b="true" sz="2557">
                <a:solidFill>
                  <a:srgbClr val="F03C2E"/>
                </a:solidFill>
                <a:latin typeface="Roboto Bold"/>
                <a:ea typeface="Roboto Bold"/>
                <a:cs typeface="Roboto Bold"/>
                <a:sym typeface="Roboto Bold"/>
              </a:rPr>
              <a:t>Ét</a:t>
            </a:r>
            <a:r>
              <a:rPr lang="en-US" b="true" sz="2557">
                <a:solidFill>
                  <a:srgbClr val="F03C2E"/>
                </a:solidFill>
                <a:latin typeface="Roboto Bold"/>
                <a:ea typeface="Roboto Bold"/>
                <a:cs typeface="Roboto Bold"/>
                <a:sym typeface="Roboto Bold"/>
              </a:rPr>
              <a:t>apes de mise en place</a:t>
            </a:r>
          </a:p>
        </p:txBody>
      </p:sp>
      <p:grpSp>
        <p:nvGrpSpPr>
          <p:cNvPr name="Group 18" id="18"/>
          <p:cNvGrpSpPr/>
          <p:nvPr/>
        </p:nvGrpSpPr>
        <p:grpSpPr>
          <a:xfrm rot="0">
            <a:off x="2445327" y="4855862"/>
            <a:ext cx="5347692" cy="3000394"/>
            <a:chOff x="0" y="0"/>
            <a:chExt cx="7130256" cy="4000526"/>
          </a:xfrm>
        </p:grpSpPr>
        <p:sp>
          <p:nvSpPr>
            <p:cNvPr name="Freeform 19" id="19"/>
            <p:cNvSpPr/>
            <p:nvPr/>
          </p:nvSpPr>
          <p:spPr>
            <a:xfrm flipH="false" flipV="false" rot="0">
              <a:off x="0" y="0"/>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0" y="1142584"/>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790508" y="-9525"/>
              <a:ext cx="6339748" cy="444104"/>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Un dépôt de code versionné</a:t>
              </a:r>
            </a:p>
          </p:txBody>
        </p:sp>
        <p:sp>
          <p:nvSpPr>
            <p:cNvPr name="TextBox 22" id="22"/>
            <p:cNvSpPr txBox="true"/>
            <p:nvPr/>
          </p:nvSpPr>
          <p:spPr>
            <a:xfrm rot="0">
              <a:off x="790508" y="1133059"/>
              <a:ext cx="6339748" cy="444104"/>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Des</a:t>
              </a:r>
              <a:r>
                <a:rPr lang="en-US" sz="2193" b="true">
                  <a:solidFill>
                    <a:srgbClr val="000000"/>
                  </a:solidFill>
                  <a:latin typeface="Quicksand Bold"/>
                  <a:ea typeface="Quicksand Bold"/>
                  <a:cs typeface="Quicksand Bold"/>
                  <a:sym typeface="Quicksand Bold"/>
                </a:rPr>
                <a:t> tests unitaires </a:t>
              </a:r>
            </a:p>
          </p:txBody>
        </p:sp>
        <p:sp>
          <p:nvSpPr>
            <p:cNvPr name="Freeform 23" id="23"/>
            <p:cNvSpPr/>
            <p:nvPr/>
          </p:nvSpPr>
          <p:spPr>
            <a:xfrm flipH="false" flipV="false" rot="0">
              <a:off x="0" y="2332298"/>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4" id="24"/>
            <p:cNvSpPr txBox="true"/>
            <p:nvPr/>
          </p:nvSpPr>
          <p:spPr>
            <a:xfrm rot="0">
              <a:off x="790508" y="2322773"/>
              <a:ext cx="6339748" cy="444104"/>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Un serveur CI</a:t>
              </a:r>
            </a:p>
          </p:txBody>
        </p:sp>
        <p:sp>
          <p:nvSpPr>
            <p:cNvPr name="Freeform 25" id="25"/>
            <p:cNvSpPr/>
            <p:nvPr/>
          </p:nvSpPr>
          <p:spPr>
            <a:xfrm flipH="false" flipV="false" rot="0">
              <a:off x="0" y="3522012"/>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6" id="26"/>
            <p:cNvSpPr txBox="true"/>
            <p:nvPr/>
          </p:nvSpPr>
          <p:spPr>
            <a:xfrm rot="0">
              <a:off x="790508" y="3512487"/>
              <a:ext cx="6339748" cy="444104"/>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Un environnem</a:t>
              </a:r>
              <a:r>
                <a:rPr lang="en-US" sz="2193" b="true">
                  <a:solidFill>
                    <a:srgbClr val="000000"/>
                  </a:solidFill>
                  <a:latin typeface="Quicksand Bold"/>
                  <a:ea typeface="Quicksand Bold"/>
                  <a:cs typeface="Quicksand Bold"/>
                  <a:sym typeface="Quicksand Bold"/>
                </a:rPr>
                <a:t>ent stable de build</a:t>
              </a:r>
            </a:p>
          </p:txBody>
        </p:sp>
      </p:grpSp>
      <p:grpSp>
        <p:nvGrpSpPr>
          <p:cNvPr name="Group 27" id="27"/>
          <p:cNvGrpSpPr/>
          <p:nvPr/>
        </p:nvGrpSpPr>
        <p:grpSpPr>
          <a:xfrm rot="0">
            <a:off x="10119227" y="4744450"/>
            <a:ext cx="5347692" cy="4112037"/>
            <a:chOff x="0" y="0"/>
            <a:chExt cx="7130256" cy="5482716"/>
          </a:xfrm>
        </p:grpSpPr>
        <p:sp>
          <p:nvSpPr>
            <p:cNvPr name="Freeform 28" id="28"/>
            <p:cNvSpPr/>
            <p:nvPr/>
          </p:nvSpPr>
          <p:spPr>
            <a:xfrm flipH="false" flipV="false" rot="0">
              <a:off x="0" y="217289"/>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0">
              <a:off x="0" y="1555195"/>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0" id="30"/>
            <p:cNvSpPr txBox="true"/>
            <p:nvPr/>
          </p:nvSpPr>
          <p:spPr>
            <a:xfrm rot="0">
              <a:off x="790508" y="-9525"/>
              <a:ext cx="6339748" cy="878682"/>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Conn</a:t>
              </a:r>
              <a:r>
                <a:rPr lang="en-US" sz="2193" b="true">
                  <a:solidFill>
                    <a:srgbClr val="000000"/>
                  </a:solidFill>
                  <a:latin typeface="Quicksand Bold"/>
                  <a:ea typeface="Quicksand Bold"/>
                  <a:cs typeface="Quicksand Bold"/>
                  <a:sym typeface="Quicksand Bold"/>
                </a:rPr>
                <a:t>ecter le dépôt de code au serveur CI</a:t>
              </a:r>
            </a:p>
          </p:txBody>
        </p:sp>
        <p:sp>
          <p:nvSpPr>
            <p:cNvPr name="TextBox 31" id="31"/>
            <p:cNvSpPr txBox="true"/>
            <p:nvPr/>
          </p:nvSpPr>
          <p:spPr>
            <a:xfrm rot="0">
              <a:off x="790508" y="1545670"/>
              <a:ext cx="6339748" cy="444104"/>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Structurer les tests</a:t>
              </a:r>
            </a:p>
          </p:txBody>
        </p:sp>
        <p:sp>
          <p:nvSpPr>
            <p:cNvPr name="Freeform 32" id="32"/>
            <p:cNvSpPr/>
            <p:nvPr/>
          </p:nvSpPr>
          <p:spPr>
            <a:xfrm flipH="false" flipV="false" rot="0">
              <a:off x="0" y="2719509"/>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3" id="33"/>
            <p:cNvSpPr txBox="true"/>
            <p:nvPr/>
          </p:nvSpPr>
          <p:spPr>
            <a:xfrm rot="0">
              <a:off x="790508" y="2709984"/>
              <a:ext cx="6339748" cy="444104"/>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Config</a:t>
              </a:r>
              <a:r>
                <a:rPr lang="en-US" sz="2193" b="true">
                  <a:solidFill>
                    <a:srgbClr val="000000"/>
                  </a:solidFill>
                  <a:latin typeface="Quicksand Bold"/>
                  <a:ea typeface="Quicksand Bold"/>
                  <a:cs typeface="Quicksand Bold"/>
                  <a:sym typeface="Quicksand Bold"/>
                </a:rPr>
                <a:t>urer les jobs CI</a:t>
              </a:r>
            </a:p>
          </p:txBody>
        </p:sp>
        <p:sp>
          <p:nvSpPr>
            <p:cNvPr name="Freeform 34" id="34"/>
            <p:cNvSpPr/>
            <p:nvPr/>
          </p:nvSpPr>
          <p:spPr>
            <a:xfrm flipH="false" flipV="false" rot="0">
              <a:off x="0" y="3883823"/>
              <a:ext cx="511034" cy="478514"/>
            </a:xfrm>
            <a:custGeom>
              <a:avLst/>
              <a:gdLst/>
              <a:ahLst/>
              <a:cxnLst/>
              <a:rect r="r" b="b" t="t" l="l"/>
              <a:pathLst>
                <a:path h="478514" w="511034">
                  <a:moveTo>
                    <a:pt x="0" y="0"/>
                  </a:moveTo>
                  <a:lnTo>
                    <a:pt x="511034" y="0"/>
                  </a:lnTo>
                  <a:lnTo>
                    <a:pt x="511034" y="478514"/>
                  </a:lnTo>
                  <a:lnTo>
                    <a:pt x="0" y="4785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5" id="35"/>
            <p:cNvSpPr txBox="true"/>
            <p:nvPr/>
          </p:nvSpPr>
          <p:spPr>
            <a:xfrm rot="0">
              <a:off x="790508" y="3874298"/>
              <a:ext cx="6339748" cy="444104"/>
            </a:xfrm>
            <a:prstGeom prst="rect">
              <a:avLst/>
            </a:prstGeom>
          </p:spPr>
          <p:txBody>
            <a:bodyPr anchor="t" rtlCol="false" tIns="0" lIns="0" bIns="0" rIns="0">
              <a:spAutoFit/>
            </a:bodyPr>
            <a:lstStyle/>
            <a:p>
              <a:pPr algn="l">
                <a:lnSpc>
                  <a:spcPts val="2632"/>
                </a:lnSpc>
              </a:pPr>
              <a:r>
                <a:rPr lang="en-US" sz="2193" b="true">
                  <a:solidFill>
                    <a:srgbClr val="000000"/>
                  </a:solidFill>
                  <a:latin typeface="Quicksand Bold"/>
                  <a:ea typeface="Quicksand Bold"/>
                  <a:cs typeface="Quicksand Bold"/>
                  <a:sym typeface="Quicksand Bold"/>
                </a:rPr>
                <a:t>Gé</a:t>
              </a:r>
              <a:r>
                <a:rPr lang="en-US" sz="2193" b="true">
                  <a:solidFill>
                    <a:srgbClr val="000000"/>
                  </a:solidFill>
                  <a:latin typeface="Quicksand Bold"/>
                  <a:ea typeface="Quicksand Bold"/>
                  <a:cs typeface="Quicksand Bold"/>
                  <a:sym typeface="Quicksand Bold"/>
                </a:rPr>
                <a:t>rer les échecs de tests</a:t>
              </a:r>
            </a:p>
          </p:txBody>
        </p:sp>
        <p:sp>
          <p:nvSpPr>
            <p:cNvPr name="TextBox 36" id="36"/>
            <p:cNvSpPr txBox="true"/>
            <p:nvPr/>
          </p:nvSpPr>
          <p:spPr>
            <a:xfrm rot="0">
              <a:off x="790508" y="5038612"/>
              <a:ext cx="6339748" cy="444104"/>
            </a:xfrm>
            <a:prstGeom prst="rect">
              <a:avLst/>
            </a:prstGeom>
          </p:spPr>
          <p:txBody>
            <a:bodyPr anchor="t" rtlCol="false" tIns="0" lIns="0" bIns="0" rIns="0">
              <a:spAutoFit/>
            </a:bodyPr>
            <a:lstStyle/>
            <a:p>
              <a:pPr algn="l">
                <a:lnSpc>
                  <a:spcPts val="2632"/>
                </a:lnSpc>
              </a:pPr>
            </a:p>
          </p:txBody>
        </p:sp>
      </p:grpSp>
      <p:sp>
        <p:nvSpPr>
          <p:cNvPr name="AutoShape 37" id="37"/>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TextBox 38" id="3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15</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165496" y="1169455"/>
            <a:ext cx="1064262" cy="1064262"/>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AutoShape 13" id="13"/>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Freeform 14" id="14"/>
          <p:cNvSpPr/>
          <p:nvPr/>
        </p:nvSpPr>
        <p:spPr>
          <a:xfrm flipH="false" flipV="false" rot="0">
            <a:off x="3959666" y="2377187"/>
            <a:ext cx="11306492" cy="6798028"/>
          </a:xfrm>
          <a:custGeom>
            <a:avLst/>
            <a:gdLst/>
            <a:ahLst/>
            <a:cxnLst/>
            <a:rect r="r" b="b" t="t" l="l"/>
            <a:pathLst>
              <a:path h="6798028" w="11306492">
                <a:moveTo>
                  <a:pt x="0" y="0"/>
                </a:moveTo>
                <a:lnTo>
                  <a:pt x="11306492" y="0"/>
                </a:lnTo>
                <a:lnTo>
                  <a:pt x="11306492" y="6798028"/>
                </a:lnTo>
                <a:lnTo>
                  <a:pt x="0" y="6798028"/>
                </a:lnTo>
                <a:lnTo>
                  <a:pt x="0" y="0"/>
                </a:lnTo>
                <a:close/>
              </a:path>
            </a:pathLst>
          </a:custGeom>
          <a:blipFill>
            <a:blip r:embed="rId4"/>
            <a:stretch>
              <a:fillRect l="0" t="0" r="0" b="0"/>
            </a:stretch>
          </a:blipFill>
        </p:spPr>
      </p:sp>
      <p:sp>
        <p:nvSpPr>
          <p:cNvPr name="TextBox 15" id="15"/>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12</a:t>
            </a:r>
          </a:p>
        </p:txBody>
      </p:sp>
      <p:sp>
        <p:nvSpPr>
          <p:cNvPr name="TextBox 16" id="16"/>
          <p:cNvSpPr txBox="true"/>
          <p:nvPr/>
        </p:nvSpPr>
        <p:spPr>
          <a:xfrm rot="0">
            <a:off x="2546753" y="1517881"/>
            <a:ext cx="6212398" cy="490665"/>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Démonstration</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16</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165496" y="1169455"/>
            <a:ext cx="1064262" cy="1064262"/>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Freeform 13" id="13"/>
          <p:cNvSpPr/>
          <p:nvPr/>
        </p:nvSpPr>
        <p:spPr>
          <a:xfrm flipH="false" flipV="false" rot="0">
            <a:off x="1795639" y="3267836"/>
            <a:ext cx="422917" cy="597955"/>
          </a:xfrm>
          <a:custGeom>
            <a:avLst/>
            <a:gdLst/>
            <a:ahLst/>
            <a:cxnLst/>
            <a:rect r="r" b="b" t="t" l="l"/>
            <a:pathLst>
              <a:path h="597955" w="422917">
                <a:moveTo>
                  <a:pt x="0" y="0"/>
                </a:moveTo>
                <a:lnTo>
                  <a:pt x="422918" y="0"/>
                </a:lnTo>
                <a:lnTo>
                  <a:pt x="422918" y="597956"/>
                </a:lnTo>
                <a:lnTo>
                  <a:pt x="0" y="597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2373228" y="3381110"/>
            <a:ext cx="5418209"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Quicksand Medium"/>
                <a:ea typeface="Quicksand Medium"/>
                <a:cs typeface="Quicksand Medium"/>
                <a:sym typeface="Quicksand Medium"/>
              </a:rPr>
              <a:t>1. Au</a:t>
            </a:r>
            <a:r>
              <a:rPr lang="en-US" sz="2499" b="true">
                <a:solidFill>
                  <a:srgbClr val="000000"/>
                </a:solidFill>
                <a:latin typeface="Quicksand Medium"/>
                <a:ea typeface="Quicksand Medium"/>
                <a:cs typeface="Quicksand Medium"/>
                <a:sym typeface="Quicksand Medium"/>
              </a:rPr>
              <a:t>tomatiser la définition des jobs</a:t>
            </a:r>
          </a:p>
        </p:txBody>
      </p:sp>
      <p:sp>
        <p:nvSpPr>
          <p:cNvPr name="TextBox 15" id="15"/>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13</a:t>
            </a:r>
          </a:p>
        </p:txBody>
      </p:sp>
      <p:sp>
        <p:nvSpPr>
          <p:cNvPr name="TextBox 16" id="16"/>
          <p:cNvSpPr txBox="true"/>
          <p:nvPr/>
        </p:nvSpPr>
        <p:spPr>
          <a:xfrm rot="0">
            <a:off x="2546753" y="1448117"/>
            <a:ext cx="6212398" cy="490778"/>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Bon</a:t>
            </a:r>
            <a:r>
              <a:rPr lang="en-US" b="true" sz="3106">
                <a:solidFill>
                  <a:srgbClr val="000000"/>
                </a:solidFill>
                <a:latin typeface="Roboto Bold"/>
                <a:ea typeface="Roboto Bold"/>
                <a:cs typeface="Roboto Bold"/>
                <a:sym typeface="Roboto Bold"/>
              </a:rPr>
              <a:t>nes pratiques </a:t>
            </a:r>
          </a:p>
        </p:txBody>
      </p:sp>
      <p:sp>
        <p:nvSpPr>
          <p:cNvPr name="Freeform 17" id="17"/>
          <p:cNvSpPr/>
          <p:nvPr/>
        </p:nvSpPr>
        <p:spPr>
          <a:xfrm flipH="false" flipV="false" rot="0">
            <a:off x="1795639" y="4100502"/>
            <a:ext cx="422917" cy="597955"/>
          </a:xfrm>
          <a:custGeom>
            <a:avLst/>
            <a:gdLst/>
            <a:ahLst/>
            <a:cxnLst/>
            <a:rect r="r" b="b" t="t" l="l"/>
            <a:pathLst>
              <a:path h="597955" w="422917">
                <a:moveTo>
                  <a:pt x="0" y="0"/>
                </a:moveTo>
                <a:lnTo>
                  <a:pt x="422918" y="0"/>
                </a:lnTo>
                <a:lnTo>
                  <a:pt x="422918" y="597955"/>
                </a:lnTo>
                <a:lnTo>
                  <a:pt x="0" y="597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1795639" y="4933167"/>
            <a:ext cx="422917" cy="597955"/>
          </a:xfrm>
          <a:custGeom>
            <a:avLst/>
            <a:gdLst/>
            <a:ahLst/>
            <a:cxnLst/>
            <a:rect r="r" b="b" t="t" l="l"/>
            <a:pathLst>
              <a:path h="597955" w="422917">
                <a:moveTo>
                  <a:pt x="0" y="0"/>
                </a:moveTo>
                <a:lnTo>
                  <a:pt x="422918" y="0"/>
                </a:lnTo>
                <a:lnTo>
                  <a:pt x="422918" y="597956"/>
                </a:lnTo>
                <a:lnTo>
                  <a:pt x="0" y="597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1795639" y="5765833"/>
            <a:ext cx="422917" cy="597955"/>
          </a:xfrm>
          <a:custGeom>
            <a:avLst/>
            <a:gdLst/>
            <a:ahLst/>
            <a:cxnLst/>
            <a:rect r="r" b="b" t="t" l="l"/>
            <a:pathLst>
              <a:path h="597955" w="422917">
                <a:moveTo>
                  <a:pt x="0" y="0"/>
                </a:moveTo>
                <a:lnTo>
                  <a:pt x="422918" y="0"/>
                </a:lnTo>
                <a:lnTo>
                  <a:pt x="422918" y="597955"/>
                </a:lnTo>
                <a:lnTo>
                  <a:pt x="0" y="597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0">
            <a:off x="1795639" y="6598498"/>
            <a:ext cx="422917" cy="597955"/>
          </a:xfrm>
          <a:custGeom>
            <a:avLst/>
            <a:gdLst/>
            <a:ahLst/>
            <a:cxnLst/>
            <a:rect r="r" b="b" t="t" l="l"/>
            <a:pathLst>
              <a:path h="597955" w="422917">
                <a:moveTo>
                  <a:pt x="0" y="0"/>
                </a:moveTo>
                <a:lnTo>
                  <a:pt x="422918" y="0"/>
                </a:lnTo>
                <a:lnTo>
                  <a:pt x="422918" y="597956"/>
                </a:lnTo>
                <a:lnTo>
                  <a:pt x="0" y="597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795639" y="7431164"/>
            <a:ext cx="422917" cy="597955"/>
          </a:xfrm>
          <a:custGeom>
            <a:avLst/>
            <a:gdLst/>
            <a:ahLst/>
            <a:cxnLst/>
            <a:rect r="r" b="b" t="t" l="l"/>
            <a:pathLst>
              <a:path h="597955" w="422917">
                <a:moveTo>
                  <a:pt x="0" y="0"/>
                </a:moveTo>
                <a:lnTo>
                  <a:pt x="422918" y="0"/>
                </a:lnTo>
                <a:lnTo>
                  <a:pt x="422918" y="597955"/>
                </a:lnTo>
                <a:lnTo>
                  <a:pt x="0" y="597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2373228" y="4213775"/>
            <a:ext cx="5668391"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Quicksand Medium"/>
                <a:ea typeface="Quicksand Medium"/>
                <a:cs typeface="Quicksand Medium"/>
                <a:sym typeface="Quicksand Medium"/>
              </a:rPr>
              <a:t>2. U</a:t>
            </a:r>
            <a:r>
              <a:rPr lang="en-US" sz="2499" b="true">
                <a:solidFill>
                  <a:srgbClr val="000000"/>
                </a:solidFill>
                <a:latin typeface="Quicksand Medium"/>
                <a:ea typeface="Quicksand Medium"/>
                <a:cs typeface="Quicksand Medium"/>
                <a:sym typeface="Quicksand Medium"/>
              </a:rPr>
              <a:t>tiliser des dossiers d'organisation</a:t>
            </a:r>
          </a:p>
        </p:txBody>
      </p:sp>
      <p:sp>
        <p:nvSpPr>
          <p:cNvPr name="TextBox 23" id="23"/>
          <p:cNvSpPr txBox="true"/>
          <p:nvPr/>
        </p:nvSpPr>
        <p:spPr>
          <a:xfrm rot="0">
            <a:off x="2373228" y="5042384"/>
            <a:ext cx="5668391"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Quicksand Medium"/>
                <a:ea typeface="Quicksand Medium"/>
                <a:cs typeface="Quicksand Medium"/>
                <a:sym typeface="Quicksand Medium"/>
              </a:rPr>
              <a:t>3. U</a:t>
            </a:r>
            <a:r>
              <a:rPr lang="en-US" sz="2499" b="true">
                <a:solidFill>
                  <a:srgbClr val="000000"/>
                </a:solidFill>
                <a:latin typeface="Quicksand Medium"/>
                <a:ea typeface="Quicksand Medium"/>
                <a:cs typeface="Quicksand Medium"/>
                <a:sym typeface="Quicksand Medium"/>
              </a:rPr>
              <a:t>tiliser des Pipelines</a:t>
            </a:r>
          </a:p>
        </p:txBody>
      </p:sp>
      <p:sp>
        <p:nvSpPr>
          <p:cNvPr name="TextBox 24" id="24"/>
          <p:cNvSpPr txBox="true"/>
          <p:nvPr/>
        </p:nvSpPr>
        <p:spPr>
          <a:xfrm rot="0">
            <a:off x="2373228" y="5904805"/>
            <a:ext cx="5668391"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Quicksand Medium"/>
                <a:ea typeface="Quicksand Medium"/>
                <a:cs typeface="Quicksand Medium"/>
                <a:sym typeface="Quicksand Medium"/>
              </a:rPr>
              <a:t>4. Gér</a:t>
            </a:r>
            <a:r>
              <a:rPr lang="en-US" sz="2499" b="true">
                <a:solidFill>
                  <a:srgbClr val="000000"/>
                </a:solidFill>
                <a:latin typeface="Quicksand Medium"/>
                <a:ea typeface="Quicksand Medium"/>
                <a:cs typeface="Quicksand Medium"/>
                <a:sym typeface="Quicksand Medium"/>
              </a:rPr>
              <a:t>er vos jobs</a:t>
            </a:r>
          </a:p>
        </p:txBody>
      </p:sp>
      <p:sp>
        <p:nvSpPr>
          <p:cNvPr name="TextBox 25" id="25"/>
          <p:cNvSpPr txBox="true"/>
          <p:nvPr/>
        </p:nvSpPr>
        <p:spPr>
          <a:xfrm rot="0">
            <a:off x="2373228" y="6771514"/>
            <a:ext cx="5668391"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Quicksand Medium"/>
                <a:ea typeface="Quicksand Medium"/>
                <a:cs typeface="Quicksand Medium"/>
                <a:sym typeface="Quicksand Medium"/>
              </a:rPr>
              <a:t>5. Afficher l</a:t>
            </a:r>
            <a:r>
              <a:rPr lang="en-US" sz="2499" b="true">
                <a:solidFill>
                  <a:srgbClr val="000000"/>
                </a:solidFill>
                <a:latin typeface="Quicksand Medium"/>
                <a:ea typeface="Quicksand Medium"/>
                <a:cs typeface="Quicksand Medium"/>
                <a:sym typeface="Quicksand Medium"/>
              </a:rPr>
              <a:t>es résultats des builds</a:t>
            </a:r>
          </a:p>
        </p:txBody>
      </p:sp>
      <p:sp>
        <p:nvSpPr>
          <p:cNvPr name="TextBox 26" id="26"/>
          <p:cNvSpPr txBox="true"/>
          <p:nvPr/>
        </p:nvSpPr>
        <p:spPr>
          <a:xfrm rot="0">
            <a:off x="2373228" y="7537668"/>
            <a:ext cx="5668391"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Quicksand Medium"/>
                <a:ea typeface="Quicksand Medium"/>
                <a:cs typeface="Quicksand Medium"/>
                <a:sym typeface="Quicksand Medium"/>
              </a:rPr>
              <a:t>6. Utiliser d</a:t>
            </a:r>
            <a:r>
              <a:rPr lang="en-US" sz="2499" b="true">
                <a:solidFill>
                  <a:srgbClr val="000000"/>
                </a:solidFill>
                <a:latin typeface="Quicksand Medium"/>
                <a:ea typeface="Quicksand Medium"/>
                <a:cs typeface="Quicksand Medium"/>
                <a:sym typeface="Quicksand Medium"/>
              </a:rPr>
              <a:t>es agents pour les builds</a:t>
            </a:r>
          </a:p>
        </p:txBody>
      </p:sp>
      <p:sp>
        <p:nvSpPr>
          <p:cNvPr name="Freeform 27" id="27"/>
          <p:cNvSpPr/>
          <p:nvPr/>
        </p:nvSpPr>
        <p:spPr>
          <a:xfrm flipH="false" flipV="false" rot="0">
            <a:off x="9618346" y="3267836"/>
            <a:ext cx="422917" cy="597955"/>
          </a:xfrm>
          <a:custGeom>
            <a:avLst/>
            <a:gdLst/>
            <a:ahLst/>
            <a:cxnLst/>
            <a:rect r="r" b="b" t="t" l="l"/>
            <a:pathLst>
              <a:path h="597955" w="422917">
                <a:moveTo>
                  <a:pt x="0" y="0"/>
                </a:moveTo>
                <a:lnTo>
                  <a:pt x="422918" y="0"/>
                </a:lnTo>
                <a:lnTo>
                  <a:pt x="422918" y="597956"/>
                </a:lnTo>
                <a:lnTo>
                  <a:pt x="0" y="597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8" id="28"/>
          <p:cNvSpPr txBox="true"/>
          <p:nvPr/>
        </p:nvSpPr>
        <p:spPr>
          <a:xfrm rot="0">
            <a:off x="10195935" y="3132301"/>
            <a:ext cx="5418209" cy="733491"/>
          </a:xfrm>
          <a:prstGeom prst="rect">
            <a:avLst/>
          </a:prstGeom>
        </p:spPr>
        <p:txBody>
          <a:bodyPr anchor="t" rtlCol="false" tIns="0" lIns="0" bIns="0" rIns="0">
            <a:spAutoFit/>
          </a:bodyPr>
          <a:lstStyle/>
          <a:p>
            <a:pPr algn="l">
              <a:lnSpc>
                <a:spcPts val="2879"/>
              </a:lnSpc>
            </a:pPr>
            <a:r>
              <a:rPr lang="en-US" sz="2400" b="true">
                <a:solidFill>
                  <a:srgbClr val="000000"/>
                </a:solidFill>
                <a:latin typeface="Quicksand Medium"/>
                <a:ea typeface="Quicksand Medium"/>
                <a:cs typeface="Quicksand Medium"/>
                <a:sym typeface="Quicksand Medium"/>
              </a:rPr>
              <a:t>7. Aler</a:t>
            </a:r>
            <a:r>
              <a:rPr lang="en-US" sz="2400" b="true">
                <a:solidFill>
                  <a:srgbClr val="000000"/>
                </a:solidFill>
                <a:latin typeface="Quicksand Medium"/>
                <a:ea typeface="Quicksand Medium"/>
                <a:cs typeface="Quicksand Medium"/>
                <a:sym typeface="Quicksand Medium"/>
              </a:rPr>
              <a:t>ter les bonnes personnes en cas d’échec</a:t>
            </a:r>
          </a:p>
        </p:txBody>
      </p:sp>
      <p:sp>
        <p:nvSpPr>
          <p:cNvPr name="Freeform 29" id="29"/>
          <p:cNvSpPr/>
          <p:nvPr/>
        </p:nvSpPr>
        <p:spPr>
          <a:xfrm flipH="false" flipV="false" rot="0">
            <a:off x="9618346" y="4100502"/>
            <a:ext cx="422917" cy="597955"/>
          </a:xfrm>
          <a:custGeom>
            <a:avLst/>
            <a:gdLst/>
            <a:ahLst/>
            <a:cxnLst/>
            <a:rect r="r" b="b" t="t" l="l"/>
            <a:pathLst>
              <a:path h="597955" w="422917">
                <a:moveTo>
                  <a:pt x="0" y="0"/>
                </a:moveTo>
                <a:lnTo>
                  <a:pt x="422918" y="0"/>
                </a:lnTo>
                <a:lnTo>
                  <a:pt x="422918" y="597955"/>
                </a:lnTo>
                <a:lnTo>
                  <a:pt x="0" y="597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0" id="30"/>
          <p:cNvSpPr/>
          <p:nvPr/>
        </p:nvSpPr>
        <p:spPr>
          <a:xfrm flipH="false" flipV="false" rot="0">
            <a:off x="9618346" y="4933167"/>
            <a:ext cx="422917" cy="597955"/>
          </a:xfrm>
          <a:custGeom>
            <a:avLst/>
            <a:gdLst/>
            <a:ahLst/>
            <a:cxnLst/>
            <a:rect r="r" b="b" t="t" l="l"/>
            <a:pathLst>
              <a:path h="597955" w="422917">
                <a:moveTo>
                  <a:pt x="0" y="0"/>
                </a:moveTo>
                <a:lnTo>
                  <a:pt x="422918" y="0"/>
                </a:lnTo>
                <a:lnTo>
                  <a:pt x="422918" y="597956"/>
                </a:lnTo>
                <a:lnTo>
                  <a:pt x="0" y="597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1" id="31"/>
          <p:cNvSpPr/>
          <p:nvPr/>
        </p:nvSpPr>
        <p:spPr>
          <a:xfrm flipH="false" flipV="false" rot="0">
            <a:off x="9618346" y="5765833"/>
            <a:ext cx="422917" cy="597955"/>
          </a:xfrm>
          <a:custGeom>
            <a:avLst/>
            <a:gdLst/>
            <a:ahLst/>
            <a:cxnLst/>
            <a:rect r="r" b="b" t="t" l="l"/>
            <a:pathLst>
              <a:path h="597955" w="422917">
                <a:moveTo>
                  <a:pt x="0" y="0"/>
                </a:moveTo>
                <a:lnTo>
                  <a:pt x="422918" y="0"/>
                </a:lnTo>
                <a:lnTo>
                  <a:pt x="422918" y="597955"/>
                </a:lnTo>
                <a:lnTo>
                  <a:pt x="0" y="597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2" id="32"/>
          <p:cNvSpPr/>
          <p:nvPr/>
        </p:nvSpPr>
        <p:spPr>
          <a:xfrm flipH="false" flipV="false" rot="0">
            <a:off x="9618346" y="6598498"/>
            <a:ext cx="422917" cy="597955"/>
          </a:xfrm>
          <a:custGeom>
            <a:avLst/>
            <a:gdLst/>
            <a:ahLst/>
            <a:cxnLst/>
            <a:rect r="r" b="b" t="t" l="l"/>
            <a:pathLst>
              <a:path h="597955" w="422917">
                <a:moveTo>
                  <a:pt x="0" y="0"/>
                </a:moveTo>
                <a:lnTo>
                  <a:pt x="422918" y="0"/>
                </a:lnTo>
                <a:lnTo>
                  <a:pt x="422918" y="597956"/>
                </a:lnTo>
                <a:lnTo>
                  <a:pt x="0" y="5979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3" id="33"/>
          <p:cNvSpPr/>
          <p:nvPr/>
        </p:nvSpPr>
        <p:spPr>
          <a:xfrm flipH="false" flipV="false" rot="0">
            <a:off x="9618346" y="7431164"/>
            <a:ext cx="422917" cy="597955"/>
          </a:xfrm>
          <a:custGeom>
            <a:avLst/>
            <a:gdLst/>
            <a:ahLst/>
            <a:cxnLst/>
            <a:rect r="r" b="b" t="t" l="l"/>
            <a:pathLst>
              <a:path h="597955" w="422917">
                <a:moveTo>
                  <a:pt x="0" y="0"/>
                </a:moveTo>
                <a:lnTo>
                  <a:pt x="422918" y="0"/>
                </a:lnTo>
                <a:lnTo>
                  <a:pt x="422918" y="597955"/>
                </a:lnTo>
                <a:lnTo>
                  <a:pt x="0" y="597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4" id="34"/>
          <p:cNvSpPr txBox="true"/>
          <p:nvPr/>
        </p:nvSpPr>
        <p:spPr>
          <a:xfrm rot="0">
            <a:off x="10195935" y="4028071"/>
            <a:ext cx="5668391" cy="742818"/>
          </a:xfrm>
          <a:prstGeom prst="rect">
            <a:avLst/>
          </a:prstGeom>
        </p:spPr>
        <p:txBody>
          <a:bodyPr anchor="t" rtlCol="false" tIns="0" lIns="0" bIns="0" rIns="0">
            <a:spAutoFit/>
          </a:bodyPr>
          <a:lstStyle/>
          <a:p>
            <a:pPr algn="l">
              <a:lnSpc>
                <a:spcPts val="2999"/>
              </a:lnSpc>
            </a:pPr>
            <a:r>
              <a:rPr lang="en-US" sz="2499" b="true">
                <a:solidFill>
                  <a:srgbClr val="000000"/>
                </a:solidFill>
                <a:latin typeface="Quicksand Medium"/>
                <a:ea typeface="Quicksand Medium"/>
                <a:cs typeface="Quicksand Medium"/>
                <a:sym typeface="Quicksand Medium"/>
              </a:rPr>
              <a:t>8. Cho</a:t>
            </a:r>
            <a:r>
              <a:rPr lang="en-US" sz="2499" b="true">
                <a:solidFill>
                  <a:srgbClr val="000000"/>
                </a:solidFill>
                <a:latin typeface="Quicksand Medium"/>
                <a:ea typeface="Quicksand Medium"/>
                <a:cs typeface="Quicksand Medium"/>
                <a:sym typeface="Quicksand Medium"/>
              </a:rPr>
              <a:t>isir des noms simples pour les projets</a:t>
            </a:r>
          </a:p>
        </p:txBody>
      </p:sp>
      <p:sp>
        <p:nvSpPr>
          <p:cNvPr name="TextBox 35" id="35"/>
          <p:cNvSpPr txBox="true"/>
          <p:nvPr/>
        </p:nvSpPr>
        <p:spPr>
          <a:xfrm rot="0">
            <a:off x="10193664" y="4932813"/>
            <a:ext cx="5668391" cy="742818"/>
          </a:xfrm>
          <a:prstGeom prst="rect">
            <a:avLst/>
          </a:prstGeom>
        </p:spPr>
        <p:txBody>
          <a:bodyPr anchor="t" rtlCol="false" tIns="0" lIns="0" bIns="0" rIns="0">
            <a:spAutoFit/>
          </a:bodyPr>
          <a:lstStyle/>
          <a:p>
            <a:pPr algn="l">
              <a:lnSpc>
                <a:spcPts val="2999"/>
              </a:lnSpc>
            </a:pPr>
            <a:r>
              <a:rPr lang="en-US" sz="2499" b="true">
                <a:solidFill>
                  <a:srgbClr val="000000"/>
                </a:solidFill>
                <a:latin typeface="Quicksand Medium"/>
                <a:ea typeface="Quicksand Medium"/>
                <a:cs typeface="Quicksand Medium"/>
                <a:sym typeface="Quicksand Medium"/>
              </a:rPr>
              <a:t>9. U</a:t>
            </a:r>
            <a:r>
              <a:rPr lang="en-US" sz="2499" b="true">
                <a:solidFill>
                  <a:srgbClr val="000000"/>
                </a:solidFill>
                <a:latin typeface="Quicksand Medium"/>
                <a:ea typeface="Quicksand Medium"/>
                <a:cs typeface="Quicksand Medium"/>
                <a:sym typeface="Quicksand Medium"/>
              </a:rPr>
              <a:t>tiliser la "Fingerprint" pour vos dépendances</a:t>
            </a:r>
          </a:p>
        </p:txBody>
      </p:sp>
      <p:sp>
        <p:nvSpPr>
          <p:cNvPr name="TextBox 36" id="36"/>
          <p:cNvSpPr txBox="true"/>
          <p:nvPr/>
        </p:nvSpPr>
        <p:spPr>
          <a:xfrm rot="0">
            <a:off x="10195935" y="5837556"/>
            <a:ext cx="5668391" cy="371409"/>
          </a:xfrm>
          <a:prstGeom prst="rect">
            <a:avLst/>
          </a:prstGeom>
        </p:spPr>
        <p:txBody>
          <a:bodyPr anchor="t" rtlCol="false" tIns="0" lIns="0" bIns="0" rIns="0">
            <a:spAutoFit/>
          </a:bodyPr>
          <a:lstStyle/>
          <a:p>
            <a:pPr algn="l">
              <a:lnSpc>
                <a:spcPts val="2999"/>
              </a:lnSpc>
            </a:pPr>
            <a:r>
              <a:rPr lang="en-US" sz="2499" b="true">
                <a:solidFill>
                  <a:srgbClr val="000000"/>
                </a:solidFill>
                <a:latin typeface="Quicksand Medium"/>
                <a:ea typeface="Quicksand Medium"/>
                <a:cs typeface="Quicksand Medium"/>
                <a:sym typeface="Quicksand Medium"/>
              </a:rPr>
              <a:t>11. Gérer l</a:t>
            </a:r>
            <a:r>
              <a:rPr lang="en-US" sz="2499" b="true">
                <a:solidFill>
                  <a:srgbClr val="000000"/>
                </a:solidFill>
                <a:latin typeface="Quicksand Medium"/>
                <a:ea typeface="Quicksand Medium"/>
                <a:cs typeface="Quicksand Medium"/>
                <a:sym typeface="Quicksand Medium"/>
              </a:rPr>
              <a:t>e contrôleur</a:t>
            </a:r>
          </a:p>
        </p:txBody>
      </p:sp>
      <p:sp>
        <p:nvSpPr>
          <p:cNvPr name="TextBox 37" id="37"/>
          <p:cNvSpPr txBox="true"/>
          <p:nvPr/>
        </p:nvSpPr>
        <p:spPr>
          <a:xfrm rot="0">
            <a:off x="10195935" y="6501908"/>
            <a:ext cx="5668391" cy="742818"/>
          </a:xfrm>
          <a:prstGeom prst="rect">
            <a:avLst/>
          </a:prstGeom>
        </p:spPr>
        <p:txBody>
          <a:bodyPr anchor="t" rtlCol="false" tIns="0" lIns="0" bIns="0" rIns="0">
            <a:spAutoFit/>
          </a:bodyPr>
          <a:lstStyle/>
          <a:p>
            <a:pPr algn="l">
              <a:lnSpc>
                <a:spcPts val="2999"/>
              </a:lnSpc>
            </a:pPr>
            <a:r>
              <a:rPr lang="en-US" sz="2499" b="true">
                <a:solidFill>
                  <a:srgbClr val="000000"/>
                </a:solidFill>
                <a:latin typeface="Quicksand Medium"/>
                <a:ea typeface="Quicksand Medium"/>
                <a:cs typeface="Quicksand Medium"/>
                <a:sym typeface="Quicksand Medium"/>
              </a:rPr>
              <a:t>12. Éviter la</a:t>
            </a:r>
            <a:r>
              <a:rPr lang="en-US" sz="2499" b="true">
                <a:solidFill>
                  <a:srgbClr val="000000"/>
                </a:solidFill>
                <a:latin typeface="Quicksand Medium"/>
                <a:ea typeface="Quicksand Medium"/>
                <a:cs typeface="Quicksand Medium"/>
                <a:sym typeface="Quicksand Medium"/>
              </a:rPr>
              <a:t> surcharge de planification</a:t>
            </a:r>
          </a:p>
        </p:txBody>
      </p:sp>
      <p:sp>
        <p:nvSpPr>
          <p:cNvPr name="TextBox 38" id="38"/>
          <p:cNvSpPr txBox="true"/>
          <p:nvPr/>
        </p:nvSpPr>
        <p:spPr>
          <a:xfrm rot="0">
            <a:off x="10195935" y="7540001"/>
            <a:ext cx="5668391" cy="742818"/>
          </a:xfrm>
          <a:prstGeom prst="rect">
            <a:avLst/>
          </a:prstGeom>
        </p:spPr>
        <p:txBody>
          <a:bodyPr anchor="t" rtlCol="false" tIns="0" lIns="0" bIns="0" rIns="0">
            <a:spAutoFit/>
          </a:bodyPr>
          <a:lstStyle/>
          <a:p>
            <a:pPr algn="l">
              <a:lnSpc>
                <a:spcPts val="2999"/>
              </a:lnSpc>
            </a:pPr>
            <a:r>
              <a:rPr lang="en-US" sz="2499" b="true">
                <a:solidFill>
                  <a:srgbClr val="000000"/>
                </a:solidFill>
                <a:latin typeface="Quicksand Medium"/>
                <a:ea typeface="Quicksand Medium"/>
                <a:cs typeface="Quicksand Medium"/>
                <a:sym typeface="Quicksand Medium"/>
              </a:rPr>
              <a:t>13. Éviter les collisions d</a:t>
            </a:r>
            <a:r>
              <a:rPr lang="en-US" sz="2499" b="true">
                <a:solidFill>
                  <a:srgbClr val="000000"/>
                </a:solidFill>
                <a:latin typeface="Quicksand Medium"/>
                <a:ea typeface="Quicksand Medium"/>
                <a:cs typeface="Quicksand Medium"/>
                <a:sym typeface="Quicksand Medium"/>
              </a:rPr>
              <a:t>e ressources [4]</a:t>
            </a:r>
          </a:p>
        </p:txBody>
      </p:sp>
      <p:sp>
        <p:nvSpPr>
          <p:cNvPr name="AutoShape 39" id="39"/>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TextBox 40" id="4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17</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a:grpSpLocks noChangeAspect="true"/>
          </p:cNvGrpSpPr>
          <p:nvPr/>
        </p:nvGrpSpPr>
        <p:grpSpPr>
          <a:xfrm rot="0">
            <a:off x="16900199" y="9148181"/>
            <a:ext cx="359101" cy="359101"/>
            <a:chOff x="0" y="0"/>
            <a:chExt cx="1708150" cy="1708150"/>
          </a:xfrm>
        </p:grpSpPr>
        <p:sp>
          <p:nvSpPr>
            <p:cNvPr name="Freeform 5" id="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6" id="6"/>
          <p:cNvGrpSpPr>
            <a:grpSpLocks noChangeAspect="true"/>
          </p:cNvGrpSpPr>
          <p:nvPr/>
        </p:nvGrpSpPr>
        <p:grpSpPr>
          <a:xfrm rot="0">
            <a:off x="16291508" y="9148181"/>
            <a:ext cx="359101" cy="359101"/>
            <a:chOff x="0" y="0"/>
            <a:chExt cx="1708150" cy="1708150"/>
          </a:xfrm>
        </p:grpSpPr>
        <p:sp>
          <p:nvSpPr>
            <p:cNvPr name="Freeform 7" id="7"/>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8" id="8"/>
          <p:cNvGrpSpPr/>
          <p:nvPr/>
        </p:nvGrpSpPr>
        <p:grpSpPr>
          <a:xfrm rot="0">
            <a:off x="15686735" y="9150140"/>
            <a:ext cx="355183" cy="355183"/>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0" id="10"/>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165496" y="1169455"/>
            <a:ext cx="1064262" cy="1064262"/>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AutoShape 13" id="13"/>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Freeform 14" id="14"/>
          <p:cNvSpPr/>
          <p:nvPr/>
        </p:nvSpPr>
        <p:spPr>
          <a:xfrm flipH="false" flipV="false" rot="0">
            <a:off x="12176708" y="30861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1816748" y="3823228"/>
            <a:ext cx="9536161" cy="2228850"/>
          </a:xfrm>
          <a:prstGeom prst="rect">
            <a:avLst/>
          </a:prstGeom>
        </p:spPr>
        <p:txBody>
          <a:bodyPr anchor="t" rtlCol="false" tIns="0" lIns="0" bIns="0" rIns="0">
            <a:spAutoFit/>
          </a:bodyPr>
          <a:lstStyle/>
          <a:p>
            <a:pPr algn="l">
              <a:lnSpc>
                <a:spcPts val="2999"/>
              </a:lnSpc>
            </a:pPr>
            <a:r>
              <a:rPr lang="en-US" sz="2499" b="true">
                <a:solidFill>
                  <a:srgbClr val="000000"/>
                </a:solidFill>
                <a:latin typeface="Quicksand Medium"/>
                <a:ea typeface="Quicksand Medium"/>
                <a:cs typeface="Quicksand Medium"/>
                <a:sym typeface="Quicksand Medium"/>
              </a:rPr>
              <a:t>Au-delà de l’intégration continue, Jenkins permet aussi d’automatiser la livraison des produits logiciels, à savoir dans les environnements de test, préprod et de production</a:t>
            </a:r>
          </a:p>
          <a:p>
            <a:pPr algn="l">
              <a:lnSpc>
                <a:spcPts val="2999"/>
              </a:lnSpc>
            </a:pPr>
          </a:p>
          <a:p>
            <a:pPr algn="l">
              <a:lnSpc>
                <a:spcPts val="2999"/>
              </a:lnSpc>
            </a:pPr>
            <a:r>
              <a:rPr lang="en-US" sz="2499" b="true">
                <a:solidFill>
                  <a:srgbClr val="000000"/>
                </a:solidFill>
                <a:latin typeface="Quicksand Medium"/>
                <a:ea typeface="Quicksand Medium"/>
                <a:cs typeface="Quicksand Medium"/>
                <a:sym typeface="Quicksand Medium"/>
              </a:rPr>
              <a:t>Ceci permet aussi de restaurer, en cas d’échec ou d’erreurs, la récupération rapide d’une ancienne version du logiciel. [5]</a:t>
            </a:r>
          </a:p>
        </p:txBody>
      </p:sp>
      <p:sp>
        <p:nvSpPr>
          <p:cNvPr name="TextBox 16" id="16"/>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14</a:t>
            </a:r>
          </a:p>
        </p:txBody>
      </p:sp>
      <p:sp>
        <p:nvSpPr>
          <p:cNvPr name="TextBox 17" id="17"/>
          <p:cNvSpPr txBox="true"/>
          <p:nvPr/>
        </p:nvSpPr>
        <p:spPr>
          <a:xfrm rot="0">
            <a:off x="2611243" y="1213301"/>
            <a:ext cx="6212398" cy="962280"/>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Ouverture : vers la livraison continue (CD)</a:t>
            </a:r>
          </a:p>
        </p:txBody>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18</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grpSp>
        <p:nvGrpSpPr>
          <p:cNvPr name="Group 2" id="2"/>
          <p:cNvGrpSpPr/>
          <p:nvPr/>
        </p:nvGrpSpPr>
        <p:grpSpPr>
          <a:xfrm rot="0">
            <a:off x="1022026" y="1025985"/>
            <a:ext cx="1351202" cy="135120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grpSp>
        <p:nvGrpSpPr>
          <p:cNvPr name="Group 4" id="4"/>
          <p:cNvGrpSpPr/>
          <p:nvPr/>
        </p:nvGrpSpPr>
        <p:grpSpPr>
          <a:xfrm rot="0">
            <a:off x="9144000" y="2620853"/>
            <a:ext cx="1293967" cy="1293967"/>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8E8E8"/>
            </a:solidFill>
          </p:spPr>
        </p:sp>
      </p:grpSp>
      <p:grpSp>
        <p:nvGrpSpPr>
          <p:cNvPr name="Group 6" id="6"/>
          <p:cNvGrpSpPr/>
          <p:nvPr/>
        </p:nvGrpSpPr>
        <p:grpSpPr>
          <a:xfrm rot="0">
            <a:off x="9144000" y="4495446"/>
            <a:ext cx="1293967" cy="1293967"/>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8E8E8"/>
            </a:solidFill>
          </p:spPr>
        </p:sp>
      </p:grpSp>
      <p:grpSp>
        <p:nvGrpSpPr>
          <p:cNvPr name="Group 8" id="8"/>
          <p:cNvGrpSpPr>
            <a:grpSpLocks noChangeAspect="true"/>
          </p:cNvGrpSpPr>
          <p:nvPr/>
        </p:nvGrpSpPr>
        <p:grpSpPr>
          <a:xfrm rot="0">
            <a:off x="16900199" y="9148181"/>
            <a:ext cx="359101" cy="359101"/>
            <a:chOff x="0" y="0"/>
            <a:chExt cx="1708150" cy="1708150"/>
          </a:xfrm>
        </p:grpSpPr>
        <p:sp>
          <p:nvSpPr>
            <p:cNvPr name="Freeform 9" id="9"/>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10" id="10"/>
          <p:cNvGrpSpPr>
            <a:grpSpLocks noChangeAspect="true"/>
          </p:cNvGrpSpPr>
          <p:nvPr/>
        </p:nvGrpSpPr>
        <p:grpSpPr>
          <a:xfrm rot="0">
            <a:off x="16291508" y="9148181"/>
            <a:ext cx="359101" cy="359101"/>
            <a:chOff x="0" y="0"/>
            <a:chExt cx="1708150" cy="1708150"/>
          </a:xfrm>
        </p:grpSpPr>
        <p:sp>
          <p:nvSpPr>
            <p:cNvPr name="Freeform 11" id="11"/>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E8E8E8"/>
            </a:solidFill>
          </p:spPr>
        </p:sp>
      </p:grpSp>
      <p:grpSp>
        <p:nvGrpSpPr>
          <p:cNvPr name="Group 12" id="12"/>
          <p:cNvGrpSpPr/>
          <p:nvPr/>
        </p:nvGrpSpPr>
        <p:grpSpPr>
          <a:xfrm rot="0">
            <a:off x="15686735" y="9150140"/>
            <a:ext cx="355183" cy="355183"/>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BD59"/>
            </a:solidFill>
          </p:spPr>
        </p:sp>
      </p:grpSp>
      <p:sp>
        <p:nvSpPr>
          <p:cNvPr name="Freeform 14" id="14"/>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9383388" y="2868902"/>
            <a:ext cx="815192" cy="797869"/>
          </a:xfrm>
          <a:custGeom>
            <a:avLst/>
            <a:gdLst/>
            <a:ahLst/>
            <a:cxnLst/>
            <a:rect r="r" b="b" t="t" l="l"/>
            <a:pathLst>
              <a:path h="797869" w="815192">
                <a:moveTo>
                  <a:pt x="0" y="0"/>
                </a:moveTo>
                <a:lnTo>
                  <a:pt x="815191" y="0"/>
                </a:lnTo>
                <a:lnTo>
                  <a:pt x="815191" y="797869"/>
                </a:lnTo>
                <a:lnTo>
                  <a:pt x="0" y="7978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9362227" y="4741007"/>
            <a:ext cx="857512" cy="802846"/>
          </a:xfrm>
          <a:custGeom>
            <a:avLst/>
            <a:gdLst/>
            <a:ahLst/>
            <a:cxnLst/>
            <a:rect r="r" b="b" t="t" l="l"/>
            <a:pathLst>
              <a:path h="802846" w="857512">
                <a:moveTo>
                  <a:pt x="0" y="0"/>
                </a:moveTo>
                <a:lnTo>
                  <a:pt x="857513" y="0"/>
                </a:lnTo>
                <a:lnTo>
                  <a:pt x="857513" y="802845"/>
                </a:lnTo>
                <a:lnTo>
                  <a:pt x="0" y="802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847060" y="3180197"/>
            <a:ext cx="14593881" cy="4457700"/>
          </a:xfrm>
          <a:prstGeom prst="rect">
            <a:avLst/>
          </a:prstGeom>
        </p:spPr>
        <p:txBody>
          <a:bodyPr anchor="t" rtlCol="false" tIns="0" lIns="0" bIns="0" rIns="0">
            <a:spAutoFit/>
          </a:bodyPr>
          <a:lstStyle/>
          <a:p>
            <a:pPr algn="l">
              <a:lnSpc>
                <a:spcPts val="2999"/>
              </a:lnSpc>
            </a:pPr>
            <a:r>
              <a:rPr lang="en-US" sz="2499">
                <a:solidFill>
                  <a:srgbClr val="000000"/>
                </a:solidFill>
                <a:latin typeface="Quicksand"/>
                <a:ea typeface="Quicksand"/>
                <a:cs typeface="Quicksand"/>
                <a:sym typeface="Quicksand"/>
              </a:rPr>
              <a:t>L</a:t>
            </a:r>
            <a:r>
              <a:rPr lang="en-US" sz="2499">
                <a:solidFill>
                  <a:srgbClr val="000000"/>
                </a:solidFill>
                <a:latin typeface="Quicksand"/>
                <a:ea typeface="Quicksand"/>
                <a:cs typeface="Quicksand"/>
                <a:sym typeface="Quicksand"/>
              </a:rPr>
              <a:t>’intégration continue s’impose comme une pratique essentielle du développement logiciel. Grâce à la puissance de Jenkins, sa modularité et sa large communauté il s’affirme comme l’un des outils les plus complets et modulaires pour automatiser les étapes critiques du cycle de vie du logiciel.</a:t>
            </a:r>
          </a:p>
          <a:p>
            <a:pPr algn="l">
              <a:lnSpc>
                <a:spcPts val="2999"/>
              </a:lnSpc>
            </a:pPr>
          </a:p>
          <a:p>
            <a:pPr algn="l">
              <a:lnSpc>
                <a:spcPts val="2999"/>
              </a:lnSpc>
            </a:pPr>
            <a:r>
              <a:rPr lang="en-US" sz="2499">
                <a:solidFill>
                  <a:srgbClr val="000000"/>
                </a:solidFill>
                <a:latin typeface="Quicksand"/>
                <a:ea typeface="Quicksand"/>
                <a:cs typeface="Quicksand"/>
                <a:sym typeface="Quicksand"/>
              </a:rPr>
              <a:t>L’installation de Jenkins, la configuration des jobs, l’écriture des pipelines et l’automatisation des tests et déploiements permettent d’améliorer significativement la qualité du code et la réactivité des équipes de développement. L’usage de pipelines déclaratifs et de plugins spécialisés apporte structure, fiabilité et gain de temps au quotidien.</a:t>
            </a:r>
          </a:p>
          <a:p>
            <a:pPr algn="l">
              <a:lnSpc>
                <a:spcPts val="2999"/>
              </a:lnSpc>
            </a:pPr>
          </a:p>
          <a:p>
            <a:pPr algn="l">
              <a:lnSpc>
                <a:spcPts val="2999"/>
              </a:lnSpc>
            </a:pPr>
            <a:r>
              <a:rPr lang="en-US" sz="2499" b="true">
                <a:solidFill>
                  <a:srgbClr val="000000"/>
                </a:solidFill>
                <a:latin typeface="Quicksand Bold"/>
                <a:ea typeface="Quicksand Bold"/>
                <a:cs typeface="Quicksand Bold"/>
                <a:sym typeface="Quicksand Bold"/>
              </a:rPr>
              <a:t>Au-delà de l’outil c’est l’organisation des équipes la rigueur des tests et la culture DevOps qui donnent tout son sens à cette démarche. Jenkins n’est pas une fin en soi mais c’est un levier pour tendre vers une livraison continue plus fiable, et plus réactive aux besoins des utilisateurs.</a:t>
            </a:r>
          </a:p>
        </p:txBody>
      </p:sp>
      <p:grpSp>
        <p:nvGrpSpPr>
          <p:cNvPr name="Group 18" id="18"/>
          <p:cNvGrpSpPr/>
          <p:nvPr/>
        </p:nvGrpSpPr>
        <p:grpSpPr>
          <a:xfrm rot="0">
            <a:off x="1165496" y="1169455"/>
            <a:ext cx="1064262" cy="1064262"/>
            <a:chOff x="0" y="0"/>
            <a:chExt cx="6350000" cy="6350000"/>
          </a:xfrm>
        </p:grpSpPr>
        <p:sp>
          <p:nvSpPr>
            <p:cNvPr name="Freeform 19" id="1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20" id="20"/>
          <p:cNvSpPr txBox="true"/>
          <p:nvPr/>
        </p:nvSpPr>
        <p:spPr>
          <a:xfrm rot="0">
            <a:off x="1361520" y="1163555"/>
            <a:ext cx="868238" cy="964652"/>
          </a:xfrm>
          <a:prstGeom prst="rect">
            <a:avLst/>
          </a:prstGeom>
        </p:spPr>
        <p:txBody>
          <a:bodyPr anchor="t" rtlCol="false" tIns="0" lIns="0" bIns="0" rIns="0">
            <a:spAutoFit/>
          </a:bodyPr>
          <a:lstStyle/>
          <a:p>
            <a:pPr algn="ctr">
              <a:lnSpc>
                <a:spcPts val="7827"/>
              </a:lnSpc>
            </a:pPr>
            <a:r>
              <a:rPr lang="en-US" b="true" sz="5591">
                <a:solidFill>
                  <a:srgbClr val="FFFFFF"/>
                </a:solidFill>
                <a:latin typeface="RoxboroughCF Bold"/>
                <a:ea typeface="RoxboroughCF Bold"/>
                <a:cs typeface="RoxboroughCF Bold"/>
                <a:sym typeface="RoxboroughCF Bold"/>
              </a:rPr>
              <a:t>15</a:t>
            </a:r>
          </a:p>
        </p:txBody>
      </p:sp>
      <p:sp>
        <p:nvSpPr>
          <p:cNvPr name="TextBox 21" id="21"/>
          <p:cNvSpPr txBox="true"/>
          <p:nvPr/>
        </p:nvSpPr>
        <p:spPr>
          <a:xfrm rot="0">
            <a:off x="2546753" y="1517881"/>
            <a:ext cx="6212398" cy="490665"/>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Conclusion</a:t>
            </a:r>
          </a:p>
        </p:txBody>
      </p:sp>
      <p:sp>
        <p:nvSpPr>
          <p:cNvPr name="AutoShape 22" id="22"/>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TextBox 23" id="2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19</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sp>
        <p:nvSpPr>
          <p:cNvPr name="Freeform 2" id="2"/>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30958" y="4680548"/>
            <a:ext cx="2527966" cy="2915434"/>
            <a:chOff x="0" y="0"/>
            <a:chExt cx="3370621" cy="3887245"/>
          </a:xfrm>
        </p:grpSpPr>
        <p:grpSp>
          <p:nvGrpSpPr>
            <p:cNvPr name="Group 4" id="4"/>
            <p:cNvGrpSpPr/>
            <p:nvPr/>
          </p:nvGrpSpPr>
          <p:grpSpPr>
            <a:xfrm rot="0">
              <a:off x="493047" y="0"/>
              <a:ext cx="2384528" cy="2384528"/>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65543"/>
              </a:solidFill>
            </p:spPr>
          </p:sp>
        </p:grpSp>
        <p:sp>
          <p:nvSpPr>
            <p:cNvPr name="Freeform 6" id="6"/>
            <p:cNvSpPr/>
            <p:nvPr/>
          </p:nvSpPr>
          <p:spPr>
            <a:xfrm flipH="false" flipV="false" rot="0">
              <a:off x="0" y="120260"/>
              <a:ext cx="3370621" cy="3766985"/>
            </a:xfrm>
            <a:custGeom>
              <a:avLst/>
              <a:gdLst/>
              <a:ahLst/>
              <a:cxnLst/>
              <a:rect r="r" b="b" t="t" l="l"/>
              <a:pathLst>
                <a:path h="3766985" w="3370621">
                  <a:moveTo>
                    <a:pt x="0" y="0"/>
                  </a:moveTo>
                  <a:lnTo>
                    <a:pt x="3370621" y="0"/>
                  </a:lnTo>
                  <a:lnTo>
                    <a:pt x="3370621" y="3766985"/>
                  </a:lnTo>
                  <a:lnTo>
                    <a:pt x="0" y="3766985"/>
                  </a:lnTo>
                  <a:lnTo>
                    <a:pt x="0" y="0"/>
                  </a:lnTo>
                  <a:close/>
                </a:path>
              </a:pathLst>
            </a:custGeom>
            <a:blipFill>
              <a:blip r:embed="rId4"/>
              <a:stretch>
                <a:fillRect l="0" t="0" r="0" b="-26694"/>
              </a:stretch>
            </a:blipFill>
          </p:spPr>
        </p:sp>
      </p:grpSp>
      <p:sp>
        <p:nvSpPr>
          <p:cNvPr name="Freeform 7" id="7"/>
          <p:cNvSpPr/>
          <p:nvPr/>
        </p:nvSpPr>
        <p:spPr>
          <a:xfrm flipH="false" flipV="false" rot="0">
            <a:off x="14515872" y="5608728"/>
            <a:ext cx="2743428" cy="1543178"/>
          </a:xfrm>
          <a:custGeom>
            <a:avLst/>
            <a:gdLst/>
            <a:ahLst/>
            <a:cxnLst/>
            <a:rect r="r" b="b" t="t" l="l"/>
            <a:pathLst>
              <a:path h="1543178" w="2743428">
                <a:moveTo>
                  <a:pt x="0" y="0"/>
                </a:moveTo>
                <a:lnTo>
                  <a:pt x="2743428" y="0"/>
                </a:lnTo>
                <a:lnTo>
                  <a:pt x="2743428" y="1543178"/>
                </a:lnTo>
                <a:lnTo>
                  <a:pt x="0" y="1543178"/>
                </a:lnTo>
                <a:lnTo>
                  <a:pt x="0" y="0"/>
                </a:lnTo>
                <a:close/>
              </a:path>
            </a:pathLst>
          </a:custGeom>
          <a:blipFill>
            <a:blip r:embed="rId5"/>
            <a:stretch>
              <a:fillRect l="0" t="0" r="0" b="0"/>
            </a:stretch>
          </a:blipFill>
        </p:spPr>
      </p:sp>
      <p:sp>
        <p:nvSpPr>
          <p:cNvPr name="Freeform 8" id="8"/>
          <p:cNvSpPr/>
          <p:nvPr/>
        </p:nvSpPr>
        <p:spPr>
          <a:xfrm flipH="false" flipV="false" rot="0">
            <a:off x="12088718" y="5269919"/>
            <a:ext cx="2646602" cy="1763298"/>
          </a:xfrm>
          <a:custGeom>
            <a:avLst/>
            <a:gdLst/>
            <a:ahLst/>
            <a:cxnLst/>
            <a:rect r="r" b="b" t="t" l="l"/>
            <a:pathLst>
              <a:path h="1763298" w="2646602">
                <a:moveTo>
                  <a:pt x="0" y="0"/>
                </a:moveTo>
                <a:lnTo>
                  <a:pt x="2646601" y="0"/>
                </a:lnTo>
                <a:lnTo>
                  <a:pt x="2646601" y="1763298"/>
                </a:lnTo>
                <a:lnTo>
                  <a:pt x="0" y="1763298"/>
                </a:lnTo>
                <a:lnTo>
                  <a:pt x="0" y="0"/>
                </a:lnTo>
                <a:close/>
              </a:path>
            </a:pathLst>
          </a:custGeom>
          <a:blipFill>
            <a:blip r:embed="rId6"/>
            <a:stretch>
              <a:fillRect l="0" t="0" r="0" b="0"/>
            </a:stretch>
          </a:blipFill>
          <a:ln cap="sq">
            <a:noFill/>
            <a:prstDash val="solid"/>
            <a:miter/>
          </a:ln>
        </p:spPr>
      </p:sp>
      <p:sp>
        <p:nvSpPr>
          <p:cNvPr name="Freeform 9" id="9"/>
          <p:cNvSpPr/>
          <p:nvPr/>
        </p:nvSpPr>
        <p:spPr>
          <a:xfrm flipH="false" flipV="false" rot="0">
            <a:off x="13980394" y="3081027"/>
            <a:ext cx="3278906" cy="2188891"/>
          </a:xfrm>
          <a:custGeom>
            <a:avLst/>
            <a:gdLst/>
            <a:ahLst/>
            <a:cxnLst/>
            <a:rect r="r" b="b" t="t" l="l"/>
            <a:pathLst>
              <a:path h="2188891" w="3278906">
                <a:moveTo>
                  <a:pt x="0" y="0"/>
                </a:moveTo>
                <a:lnTo>
                  <a:pt x="3278906" y="0"/>
                </a:lnTo>
                <a:lnTo>
                  <a:pt x="3278906" y="2188892"/>
                </a:lnTo>
                <a:lnTo>
                  <a:pt x="0" y="2188892"/>
                </a:lnTo>
                <a:lnTo>
                  <a:pt x="0" y="0"/>
                </a:lnTo>
                <a:close/>
              </a:path>
            </a:pathLst>
          </a:custGeom>
          <a:blipFill>
            <a:blip r:embed="rId7"/>
            <a:stretch>
              <a:fillRect l="0" t="0" r="0" b="0"/>
            </a:stretch>
          </a:blipFill>
        </p:spPr>
      </p:sp>
      <p:sp>
        <p:nvSpPr>
          <p:cNvPr name="Freeform 10" id="10"/>
          <p:cNvSpPr/>
          <p:nvPr/>
        </p:nvSpPr>
        <p:spPr>
          <a:xfrm flipH="false" flipV="false" rot="0">
            <a:off x="11773513" y="3081027"/>
            <a:ext cx="1824290" cy="1937959"/>
          </a:xfrm>
          <a:custGeom>
            <a:avLst/>
            <a:gdLst/>
            <a:ahLst/>
            <a:cxnLst/>
            <a:rect r="r" b="b" t="t" l="l"/>
            <a:pathLst>
              <a:path h="1937959" w="1824290">
                <a:moveTo>
                  <a:pt x="0" y="0"/>
                </a:moveTo>
                <a:lnTo>
                  <a:pt x="1824290" y="0"/>
                </a:lnTo>
                <a:lnTo>
                  <a:pt x="1824290" y="1937959"/>
                </a:lnTo>
                <a:lnTo>
                  <a:pt x="0" y="1937959"/>
                </a:lnTo>
                <a:lnTo>
                  <a:pt x="0" y="0"/>
                </a:lnTo>
                <a:close/>
              </a:path>
            </a:pathLst>
          </a:custGeom>
          <a:blipFill>
            <a:blip r:embed="rId8"/>
            <a:stretch>
              <a:fillRect l="-40948" t="0" r="-18505" b="0"/>
            </a:stretch>
          </a:blipFill>
          <a:ln cap="sq">
            <a:noFill/>
            <a:prstDash val="solid"/>
            <a:miter/>
          </a:ln>
        </p:spPr>
      </p:sp>
      <p:sp>
        <p:nvSpPr>
          <p:cNvPr name="Freeform 11" id="11"/>
          <p:cNvSpPr/>
          <p:nvPr/>
        </p:nvSpPr>
        <p:spPr>
          <a:xfrm flipH="false" flipV="false" rot="0">
            <a:off x="13076957" y="4768951"/>
            <a:ext cx="2199003" cy="1158934"/>
          </a:xfrm>
          <a:custGeom>
            <a:avLst/>
            <a:gdLst/>
            <a:ahLst/>
            <a:cxnLst/>
            <a:rect r="r" b="b" t="t" l="l"/>
            <a:pathLst>
              <a:path h="1158934" w="2199003">
                <a:moveTo>
                  <a:pt x="0" y="0"/>
                </a:moveTo>
                <a:lnTo>
                  <a:pt x="2199003" y="0"/>
                </a:lnTo>
                <a:lnTo>
                  <a:pt x="2199003" y="1158934"/>
                </a:lnTo>
                <a:lnTo>
                  <a:pt x="0" y="1158934"/>
                </a:lnTo>
                <a:lnTo>
                  <a:pt x="0" y="0"/>
                </a:lnTo>
                <a:close/>
              </a:path>
            </a:pathLst>
          </a:custGeom>
          <a:blipFill>
            <a:blip r:embed="rId9"/>
            <a:stretch>
              <a:fillRect l="0" t="0" r="0" b="0"/>
            </a:stretch>
          </a:blipFill>
        </p:spPr>
      </p:sp>
      <p:grpSp>
        <p:nvGrpSpPr>
          <p:cNvPr name="Group 12" id="12"/>
          <p:cNvGrpSpPr>
            <a:grpSpLocks noChangeAspect="true"/>
          </p:cNvGrpSpPr>
          <p:nvPr/>
        </p:nvGrpSpPr>
        <p:grpSpPr>
          <a:xfrm rot="0">
            <a:off x="17125392" y="8770567"/>
            <a:ext cx="359101" cy="359101"/>
            <a:chOff x="0" y="0"/>
            <a:chExt cx="1708150" cy="1708150"/>
          </a:xfrm>
        </p:grpSpPr>
        <p:sp>
          <p:nvSpPr>
            <p:cNvPr name="Freeform 13" id="13"/>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12E44"/>
            </a:solidFill>
          </p:spPr>
        </p:sp>
      </p:grpSp>
      <p:grpSp>
        <p:nvGrpSpPr>
          <p:cNvPr name="Group 14" id="14"/>
          <p:cNvGrpSpPr>
            <a:grpSpLocks noChangeAspect="true"/>
          </p:cNvGrpSpPr>
          <p:nvPr/>
        </p:nvGrpSpPr>
        <p:grpSpPr>
          <a:xfrm rot="0">
            <a:off x="16516701" y="8770567"/>
            <a:ext cx="359101" cy="359101"/>
            <a:chOff x="0" y="0"/>
            <a:chExt cx="1708150" cy="1708150"/>
          </a:xfrm>
        </p:grpSpPr>
        <p:sp>
          <p:nvSpPr>
            <p:cNvPr name="Freeform 15" id="15"/>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112E44"/>
            </a:solidFill>
          </p:spPr>
        </p:sp>
      </p:grpSp>
      <p:grpSp>
        <p:nvGrpSpPr>
          <p:cNvPr name="Group 16" id="16"/>
          <p:cNvGrpSpPr/>
          <p:nvPr/>
        </p:nvGrpSpPr>
        <p:grpSpPr>
          <a:xfrm rot="0">
            <a:off x="15911928" y="8772526"/>
            <a:ext cx="355183" cy="355183"/>
            <a:chOff x="0" y="0"/>
            <a:chExt cx="6350000" cy="6350000"/>
          </a:xfrm>
        </p:grpSpPr>
        <p:sp>
          <p:nvSpPr>
            <p:cNvPr name="Freeform 17" id="1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8CBCCC"/>
            </a:solidFill>
          </p:spPr>
        </p:sp>
      </p:grpSp>
      <p:sp>
        <p:nvSpPr>
          <p:cNvPr name="Freeform 18" id="18"/>
          <p:cNvSpPr/>
          <p:nvPr/>
        </p:nvSpPr>
        <p:spPr>
          <a:xfrm flipH="false" flipV="false" rot="0">
            <a:off x="15020220" y="8696002"/>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3419710" y="1676242"/>
            <a:ext cx="5681581" cy="3456259"/>
          </a:xfrm>
          <a:custGeom>
            <a:avLst/>
            <a:gdLst/>
            <a:ahLst/>
            <a:cxnLst/>
            <a:rect r="r" b="b" t="t" l="l"/>
            <a:pathLst>
              <a:path h="3456259" w="5681581">
                <a:moveTo>
                  <a:pt x="0" y="0"/>
                </a:moveTo>
                <a:lnTo>
                  <a:pt x="5681582" y="0"/>
                </a:lnTo>
                <a:lnTo>
                  <a:pt x="5681582" y="3456259"/>
                </a:lnTo>
                <a:lnTo>
                  <a:pt x="0" y="3456259"/>
                </a:lnTo>
                <a:lnTo>
                  <a:pt x="0" y="0"/>
                </a:lnTo>
                <a:close/>
              </a:path>
            </a:pathLst>
          </a:custGeom>
          <a:blipFill>
            <a:blip r:embed="rId12"/>
            <a:stretch>
              <a:fillRect l="0" t="-66677" r="0" b="0"/>
            </a:stretch>
          </a:blipFill>
        </p:spPr>
      </p:sp>
      <p:sp>
        <p:nvSpPr>
          <p:cNvPr name="TextBox 20" id="20"/>
          <p:cNvSpPr txBox="true"/>
          <p:nvPr/>
        </p:nvSpPr>
        <p:spPr>
          <a:xfrm rot="0">
            <a:off x="1028700" y="9161028"/>
            <a:ext cx="8519716" cy="323883"/>
          </a:xfrm>
          <a:prstGeom prst="rect">
            <a:avLst/>
          </a:prstGeom>
        </p:spPr>
        <p:txBody>
          <a:bodyPr anchor="t" rtlCol="false" tIns="0" lIns="0" bIns="0" rIns="0">
            <a:spAutoFit/>
          </a:bodyPr>
          <a:lstStyle/>
          <a:p>
            <a:pPr algn="l">
              <a:lnSpc>
                <a:spcPts val="2520"/>
              </a:lnSpc>
            </a:pPr>
            <a:r>
              <a:rPr lang="en-US" sz="2100" b="true">
                <a:solidFill>
                  <a:srgbClr val="000000"/>
                </a:solidFill>
                <a:latin typeface="Quicksand Medium"/>
                <a:ea typeface="Quicksand Medium"/>
                <a:cs typeface="Quicksand Medium"/>
                <a:sym typeface="Quicksand Medium"/>
              </a:rPr>
              <a:t>Mise</a:t>
            </a:r>
            <a:r>
              <a:rPr lang="en-US" sz="2100" b="true">
                <a:solidFill>
                  <a:srgbClr val="000000"/>
                </a:solidFill>
                <a:latin typeface="Quicksand Medium"/>
                <a:ea typeface="Quicksand Medium"/>
                <a:cs typeface="Quicksand Medium"/>
                <a:sym typeface="Quicksand Medium"/>
              </a:rPr>
              <a:t> en place de l'intégration continue avec Jenkins  | 11-Juin-2025</a:t>
            </a:r>
          </a:p>
        </p:txBody>
      </p:sp>
      <p:sp>
        <p:nvSpPr>
          <p:cNvPr name="TextBox 21" id="21"/>
          <p:cNvSpPr txBox="true"/>
          <p:nvPr/>
        </p:nvSpPr>
        <p:spPr>
          <a:xfrm rot="0">
            <a:off x="3777835" y="1856195"/>
            <a:ext cx="4955955" cy="1891157"/>
          </a:xfrm>
          <a:prstGeom prst="rect">
            <a:avLst/>
          </a:prstGeom>
        </p:spPr>
        <p:txBody>
          <a:bodyPr anchor="t" rtlCol="false" tIns="0" lIns="0" bIns="0" rIns="0">
            <a:spAutoFit/>
          </a:bodyPr>
          <a:lstStyle/>
          <a:p>
            <a:pPr algn="l" marL="0" indent="0" lvl="0">
              <a:lnSpc>
                <a:spcPts val="7504"/>
              </a:lnSpc>
              <a:spcBef>
                <a:spcPct val="0"/>
              </a:spcBef>
            </a:pPr>
            <a:r>
              <a:rPr lang="en-US" sz="5600" strike="noStrike" u="none">
                <a:solidFill>
                  <a:srgbClr val="112E44"/>
                </a:solidFill>
                <a:latin typeface="More Sugar"/>
                <a:ea typeface="More Sugar"/>
                <a:cs typeface="More Sugar"/>
                <a:sym typeface="More Sugar"/>
              </a:rPr>
              <a:t>Merci de votre attention</a:t>
            </a:r>
          </a:p>
        </p:txBody>
      </p:sp>
      <p:sp>
        <p:nvSpPr>
          <p:cNvPr name="AutoShape 22" id="22"/>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TextBox 23" id="2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20</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sp>
        <p:nvSpPr>
          <p:cNvPr name="Freeform 2" id="2" descr="Menu "/>
          <p:cNvSpPr/>
          <p:nvPr/>
        </p:nvSpPr>
        <p:spPr>
          <a:xfrm flipH="false" flipV="false" rot="0">
            <a:off x="16496476" y="1028700"/>
            <a:ext cx="762824" cy="508231"/>
          </a:xfrm>
          <a:custGeom>
            <a:avLst/>
            <a:gdLst/>
            <a:ahLst/>
            <a:cxnLst/>
            <a:rect r="r" b="b" t="t" l="l"/>
            <a:pathLst>
              <a:path h="508231" w="762824">
                <a:moveTo>
                  <a:pt x="0" y="0"/>
                </a:moveTo>
                <a:lnTo>
                  <a:pt x="762824" y="0"/>
                </a:lnTo>
                <a:lnTo>
                  <a:pt x="762824" y="508231"/>
                </a:lnTo>
                <a:lnTo>
                  <a:pt x="0" y="508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53966" y="2949699"/>
            <a:ext cx="16180068" cy="5976375"/>
          </a:xfrm>
          <a:prstGeom prst="rect">
            <a:avLst/>
          </a:prstGeom>
        </p:spPr>
        <p:txBody>
          <a:bodyPr anchor="t" rtlCol="false" tIns="0" lIns="0" bIns="0" rIns="0">
            <a:spAutoFit/>
          </a:bodyPr>
          <a:lstStyle/>
          <a:p>
            <a:pPr algn="l">
              <a:lnSpc>
                <a:spcPts val="2812"/>
              </a:lnSpc>
            </a:pPr>
            <a:r>
              <a:rPr lang="en-US" sz="1875" b="true">
                <a:solidFill>
                  <a:srgbClr val="000000"/>
                </a:solidFill>
                <a:latin typeface="Quicksand Bold"/>
                <a:ea typeface="Quicksand Bold"/>
                <a:cs typeface="Quicksand Bold"/>
                <a:sym typeface="Quicksand Bold"/>
              </a:rPr>
              <a:t>[1]</a:t>
            </a:r>
            <a:r>
              <a:rPr lang="en-US" sz="1875">
                <a:solidFill>
                  <a:srgbClr val="000000"/>
                </a:solidFill>
                <a:latin typeface="Quicksand"/>
                <a:ea typeface="Quicksand"/>
                <a:cs typeface="Quicksand"/>
                <a:sym typeface="Quicksand"/>
              </a:rPr>
              <a:t> S. Médard, “Serveurs d'intégration continue Jenkins et d'analyse de code Sonar couplés à la forge logiciel SourceSup,” in Journées Réseaux de l’Enseignement et de la Recherche (JRES), Montpellier, France, 10–13 déc. 2013.</a:t>
            </a:r>
          </a:p>
          <a:p>
            <a:pPr algn="l" marL="0" indent="0" lvl="0">
              <a:lnSpc>
                <a:spcPts val="2812"/>
              </a:lnSpc>
              <a:spcBef>
                <a:spcPct val="0"/>
              </a:spcBef>
            </a:pPr>
            <a:r>
              <a:rPr lang="en-US" b="true" sz="1875">
                <a:solidFill>
                  <a:srgbClr val="000000"/>
                </a:solidFill>
                <a:latin typeface="Quicksand Bold"/>
                <a:ea typeface="Quicksand Bold"/>
                <a:cs typeface="Quicksand Bold"/>
                <a:sym typeface="Quicksand Bold"/>
              </a:rPr>
              <a:t>[2]</a:t>
            </a:r>
            <a:r>
              <a:rPr lang="en-US" sz="1875">
                <a:solidFill>
                  <a:srgbClr val="000000"/>
                </a:solidFill>
                <a:latin typeface="Quicksand"/>
                <a:ea typeface="Quicksand"/>
                <a:cs typeface="Quicksand"/>
                <a:sym typeface="Quicksand"/>
              </a:rPr>
              <a:t> Jenkins‑le‑guide‑complet community, “De Hudson à Jenkins — Un rapide historique,” Jenkins-le-guide-complet.github.io, section 1.4. [En ligne]. Disponible : </a:t>
            </a:r>
            <a:r>
              <a:rPr lang="en-US" sz="1875" u="sng">
                <a:solidFill>
                  <a:srgbClr val="000000"/>
                </a:solidFill>
                <a:latin typeface="Quicksand"/>
                <a:ea typeface="Quicksand"/>
                <a:cs typeface="Quicksand"/>
                <a:sym typeface="Quicksand"/>
                <a:hlinkClick r:id="rId4" tooltip="https://xn--jenkinsleguidecomplet-ce9lcf.github.io/html/intro%E2%80%91sect%E2%80%91history.html"/>
              </a:rPr>
              <a:t>Les présentations sont des outils de communication pouvant être utilisés comme des démonstrations, des conférences, des discours, des rapports et bien plus encore. Elles sont pour la plupart présentées en public.</a:t>
            </a:r>
            <a:r>
              <a:rPr lang="en-US" sz="1875" u="none">
                <a:solidFill>
                  <a:srgbClr val="000000"/>
                </a:solidFill>
                <a:latin typeface="Quicksand"/>
                <a:ea typeface="Quicksand"/>
                <a:cs typeface="Quicksand"/>
                <a:sym typeface="Quicksand"/>
              </a:rPr>
              <a:t> [Consulté le 1 juin 2025].</a:t>
            </a:r>
          </a:p>
          <a:p>
            <a:pPr algn="l" marL="0" indent="0" lvl="0">
              <a:lnSpc>
                <a:spcPts val="2812"/>
              </a:lnSpc>
              <a:spcBef>
                <a:spcPct val="0"/>
              </a:spcBef>
            </a:pPr>
            <a:r>
              <a:rPr lang="en-US" b="true" sz="1875" u="none">
                <a:solidFill>
                  <a:srgbClr val="000000"/>
                </a:solidFill>
                <a:latin typeface="Quicksand Bold"/>
                <a:ea typeface="Quicksand Bold"/>
                <a:cs typeface="Quicksand Bold"/>
                <a:sym typeface="Quicksand Bold"/>
              </a:rPr>
              <a:t>[3]</a:t>
            </a:r>
            <a:r>
              <a:rPr lang="en-US" sz="1875" u="none">
                <a:solidFill>
                  <a:srgbClr val="000000"/>
                </a:solidFill>
                <a:latin typeface="Quicksand"/>
                <a:ea typeface="Quicksand"/>
                <a:cs typeface="Quicksand"/>
                <a:sym typeface="Quicksand"/>
              </a:rPr>
              <a:t> Jenkins community, “Pipeline Best Practices,” Jenkins.io. [En ligne]. Disponible : </a:t>
            </a:r>
            <a:r>
              <a:rPr lang="en-US" sz="1875" u="sng">
                <a:solidFill>
                  <a:srgbClr val="000000"/>
                </a:solidFill>
                <a:latin typeface="Quicksand"/>
                <a:ea typeface="Quicksand"/>
                <a:cs typeface="Quicksand"/>
                <a:sym typeface="Quicksand"/>
                <a:hlinkClick r:id="rId5" tooltip="https://www.jenkins.io/doc/book/pipeline/pipeline-best-practices/"/>
              </a:rPr>
              <a:t>Les présentations sont des outils de communication pouvant être utilisés comme des démonstrations, des conférences, des discours, des rapports et bien plus encore. Elles sont pour la plupart présentées en public.</a:t>
            </a:r>
            <a:r>
              <a:rPr lang="en-US" sz="1875" u="none">
                <a:solidFill>
                  <a:srgbClr val="000000"/>
                </a:solidFill>
                <a:latin typeface="Quicksand"/>
                <a:ea typeface="Quicksand"/>
                <a:cs typeface="Quicksand"/>
                <a:sym typeface="Quicksand"/>
              </a:rPr>
              <a:t> [Consulté le 1 juin 2025].</a:t>
            </a:r>
          </a:p>
          <a:p>
            <a:pPr algn="l" marL="0" indent="0" lvl="0">
              <a:lnSpc>
                <a:spcPts val="2812"/>
              </a:lnSpc>
              <a:spcBef>
                <a:spcPct val="0"/>
              </a:spcBef>
            </a:pPr>
            <a:r>
              <a:rPr lang="en-US" b="true" sz="1875" u="none">
                <a:solidFill>
                  <a:srgbClr val="000000"/>
                </a:solidFill>
                <a:latin typeface="Quicksand Bold"/>
                <a:ea typeface="Quicksand Bold"/>
                <a:cs typeface="Quicksand Bold"/>
                <a:sym typeface="Quicksand Bold"/>
              </a:rPr>
              <a:t>[4]</a:t>
            </a:r>
            <a:r>
              <a:rPr lang="en-US" sz="1875" u="none">
                <a:solidFill>
                  <a:srgbClr val="000000"/>
                </a:solidFill>
                <a:latin typeface="Quicksand"/>
                <a:ea typeface="Quicksand"/>
                <a:cs typeface="Quicksand"/>
                <a:sym typeface="Quicksand"/>
              </a:rPr>
              <a:t> Simplilearn, “What is Jenkins?”, Simplilearn.com. [En ligne]. Disponible : </a:t>
            </a:r>
            <a:r>
              <a:rPr lang="en-US" sz="1875" u="sng">
                <a:solidFill>
                  <a:srgbClr val="000000"/>
                </a:solidFill>
                <a:latin typeface="Quicksand"/>
                <a:ea typeface="Quicksand"/>
                <a:cs typeface="Quicksand"/>
                <a:sym typeface="Quicksand"/>
                <a:hlinkClick r:id="rId6" tooltip="https://www.simplilearn.com/tutorials/jenkins-tutorial/what-is-jenkins"/>
              </a:rPr>
              <a:t>Les présentations sont des outils de communication pouvant être utilisés comme des démonstrations, des conférences, des discours, des rapports et bien plus encore. Elles sont pour la plupart présentées en public.</a:t>
            </a:r>
            <a:r>
              <a:rPr lang="en-US" sz="1875" u="none">
                <a:solidFill>
                  <a:srgbClr val="000000"/>
                </a:solidFill>
                <a:latin typeface="Quicksand"/>
                <a:ea typeface="Quicksand"/>
                <a:cs typeface="Quicksand"/>
                <a:sym typeface="Quicksand"/>
              </a:rPr>
              <a:t> [Consulté le 2 juin 2025].</a:t>
            </a:r>
          </a:p>
          <a:p>
            <a:pPr algn="l" marL="0" indent="0" lvl="0">
              <a:lnSpc>
                <a:spcPts val="2812"/>
              </a:lnSpc>
              <a:spcBef>
                <a:spcPct val="0"/>
              </a:spcBef>
            </a:pPr>
            <a:r>
              <a:rPr lang="en-US" b="true" sz="1875" u="none">
                <a:solidFill>
                  <a:srgbClr val="000000"/>
                </a:solidFill>
                <a:latin typeface="Quicksand Bold"/>
                <a:ea typeface="Quicksand Bold"/>
                <a:cs typeface="Quicksand Bold"/>
                <a:sym typeface="Quicksand Bold"/>
              </a:rPr>
              <a:t>[5]</a:t>
            </a:r>
            <a:r>
              <a:rPr lang="en-US" sz="1875" u="none">
                <a:solidFill>
                  <a:srgbClr val="000000"/>
                </a:solidFill>
                <a:latin typeface="Quicksand"/>
                <a:ea typeface="Quicksand"/>
                <a:cs typeface="Quicksand"/>
                <a:sym typeface="Quicksand"/>
              </a:rPr>
              <a:t> LeTecode, “Comment devenir un développeur web full stack en 2022,” LeTecode.com. [En ligne]. Disponible : </a:t>
            </a:r>
            <a:r>
              <a:rPr lang="en-US" sz="1875" u="sng">
                <a:solidFill>
                  <a:srgbClr val="000000"/>
                </a:solidFill>
                <a:latin typeface="Quicksand"/>
                <a:ea typeface="Quicksand"/>
                <a:cs typeface="Quicksand"/>
                <a:sym typeface="Quicksand"/>
                <a:hlinkClick r:id="rId7" tooltip="https://www.letecode.com/comment-devenir-un-developpeur-web-full-stack-en-2022"/>
              </a:rPr>
              <a:t>Les présentations sont des outils de communication pouvant être utilisés comme des démonstrations, des conférences, des discours, des rapports et bien plus encore. Elles sont pour la plupart présentées en public.</a:t>
            </a:r>
            <a:r>
              <a:rPr lang="en-US" sz="1875" u="none">
                <a:solidFill>
                  <a:srgbClr val="000000"/>
                </a:solidFill>
                <a:latin typeface="Quicksand"/>
                <a:ea typeface="Quicksand"/>
                <a:cs typeface="Quicksand"/>
                <a:sym typeface="Quicksand"/>
              </a:rPr>
              <a:t> [Consulté le 2 juin 2025].</a:t>
            </a:r>
          </a:p>
          <a:p>
            <a:pPr algn="l" marL="0" indent="0" lvl="0">
              <a:lnSpc>
                <a:spcPts val="2812"/>
              </a:lnSpc>
              <a:spcBef>
                <a:spcPct val="0"/>
              </a:spcBef>
            </a:pPr>
            <a:r>
              <a:rPr lang="en-US" b="true" sz="1875" u="none">
                <a:solidFill>
                  <a:srgbClr val="000000"/>
                </a:solidFill>
                <a:latin typeface="Quicksand Bold"/>
                <a:ea typeface="Quicksand Bold"/>
                <a:cs typeface="Quicksand Bold"/>
                <a:sym typeface="Quicksand Bold"/>
              </a:rPr>
              <a:t>[6]</a:t>
            </a:r>
            <a:r>
              <a:rPr lang="en-US" sz="1875" u="none">
                <a:solidFill>
                  <a:srgbClr val="000000"/>
                </a:solidFill>
                <a:latin typeface="Quicksand"/>
                <a:ea typeface="Quicksand"/>
                <a:cs typeface="Quicksand"/>
                <a:sym typeface="Quicksand"/>
              </a:rPr>
              <a:t> LeTecode, “Infographie CI/CD,” LeTecode.com. [En ligne]. Disponible : </a:t>
            </a:r>
            <a:r>
              <a:rPr lang="en-US" sz="1875" u="sng">
                <a:solidFill>
                  <a:srgbClr val="000000"/>
                </a:solidFill>
                <a:latin typeface="Quicksand"/>
                <a:ea typeface="Quicksand"/>
                <a:cs typeface="Quicksand"/>
                <a:sym typeface="Quicksand"/>
                <a:hlinkClick r:id="rId8" tooltip="https://www.letecode.com/storage/articles/April2022/continuous-integration-continuous-deploy-1.jpeg"/>
              </a:rPr>
              <a:t>Les présentations sont des outils de communication pouvant être utilisés comme des démonstrations, des conférences, des discours, des rapports et bien plus encore. Elles sont pour la plupart présentées en public.</a:t>
            </a:r>
            <a:r>
              <a:rPr lang="en-US" sz="1875" u="none">
                <a:solidFill>
                  <a:srgbClr val="000000"/>
                </a:solidFill>
                <a:latin typeface="Quicksand"/>
                <a:ea typeface="Quicksand"/>
                <a:cs typeface="Quicksand"/>
                <a:sym typeface="Quicksand"/>
              </a:rPr>
              <a:t> [Consulté le 3 juin 2025].</a:t>
            </a:r>
          </a:p>
        </p:txBody>
      </p:sp>
      <p:sp>
        <p:nvSpPr>
          <p:cNvPr name="TextBox 4" id="4"/>
          <p:cNvSpPr txBox="true"/>
          <p:nvPr/>
        </p:nvSpPr>
        <p:spPr>
          <a:xfrm rot="0">
            <a:off x="1731480" y="1019175"/>
            <a:ext cx="14825039" cy="1209741"/>
          </a:xfrm>
          <a:prstGeom prst="rect">
            <a:avLst/>
          </a:prstGeom>
        </p:spPr>
        <p:txBody>
          <a:bodyPr anchor="t" rtlCol="false" tIns="0" lIns="0" bIns="0" rIns="0">
            <a:spAutoFit/>
          </a:bodyPr>
          <a:lstStyle/>
          <a:p>
            <a:pPr algn="ctr" marL="0" indent="0" lvl="0">
              <a:lnSpc>
                <a:spcPts val="9480"/>
              </a:lnSpc>
              <a:spcBef>
                <a:spcPct val="0"/>
              </a:spcBef>
            </a:pPr>
            <a:r>
              <a:rPr lang="en-US" sz="7900">
                <a:solidFill>
                  <a:srgbClr val="000000"/>
                </a:solidFill>
                <a:latin typeface="More Sugar"/>
                <a:ea typeface="More Sugar"/>
                <a:cs typeface="More Sugar"/>
                <a:sym typeface="More Sugar"/>
              </a:rPr>
              <a:t>Annexe et bibliographie</a:t>
            </a:r>
          </a:p>
        </p:txBody>
      </p:sp>
      <p:sp>
        <p:nvSpPr>
          <p:cNvPr name="TextBox 5" id="5"/>
          <p:cNvSpPr txBox="true"/>
          <p:nvPr/>
        </p:nvSpPr>
        <p:spPr>
          <a:xfrm rot="0">
            <a:off x="1022026" y="2209866"/>
            <a:ext cx="6212398" cy="490665"/>
          </a:xfrm>
          <a:prstGeom prst="rect">
            <a:avLst/>
          </a:prstGeom>
        </p:spPr>
        <p:txBody>
          <a:bodyPr anchor="t" rtlCol="false" tIns="0" lIns="0" bIns="0" rIns="0">
            <a:spAutoFit/>
          </a:bodyPr>
          <a:lstStyle/>
          <a:p>
            <a:pPr algn="l">
              <a:lnSpc>
                <a:spcPts val="3727"/>
              </a:lnSpc>
            </a:pPr>
            <a:r>
              <a:rPr lang="en-US" b="true" sz="3106">
                <a:solidFill>
                  <a:srgbClr val="000000"/>
                </a:solidFill>
                <a:latin typeface="Roboto Bold"/>
                <a:ea typeface="Roboto Bold"/>
                <a:cs typeface="Roboto Bold"/>
                <a:sym typeface="Roboto Bold"/>
              </a:rPr>
              <a:t>Bibliographie</a:t>
            </a:r>
          </a:p>
        </p:txBody>
      </p:sp>
      <p:sp>
        <p:nvSpPr>
          <p:cNvPr name="AutoShape 6" id="6"/>
          <p:cNvSpPr/>
          <p:nvPr/>
        </p:nvSpPr>
        <p:spPr>
          <a:xfrm>
            <a:off x="1022026" y="9756394"/>
            <a:ext cx="7737124" cy="0"/>
          </a:xfrm>
          <a:prstGeom prst="line">
            <a:avLst/>
          </a:prstGeom>
          <a:ln cap="flat" w="104775">
            <a:solidFill>
              <a:srgbClr val="FFBD59"/>
            </a:solidFill>
            <a:prstDash val="solid"/>
            <a:headEnd type="none" len="sm" w="sm"/>
            <a:tailEnd type="none" len="sm" w="sm"/>
          </a:ln>
        </p:spPr>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21</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DAGn-oXCdjo</dc:identifier>
  <dcterms:modified xsi:type="dcterms:W3CDTF">2011-08-01T06:04:30Z</dcterms:modified>
  <cp:revision>1</cp:revision>
  <dc:title>Mise en place de l'intégration continue avec Jenkins</dc:title>
</cp:coreProperties>
</file>